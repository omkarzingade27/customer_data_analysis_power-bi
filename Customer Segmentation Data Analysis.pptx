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70" r:id="rId12"/>
    <p:sldId id="279" r:id="rId13"/>
    <p:sldId id="267" r:id="rId14"/>
    <p:sldId id="268" r:id="rId15"/>
    <p:sldId id="269" r:id="rId16"/>
    <p:sldId id="271" r:id="rId17"/>
    <p:sldId id="272" r:id="rId18"/>
    <p:sldId id="273" r:id="rId19"/>
    <p:sldId id="274" r:id="rId20"/>
    <p:sldId id="277" r:id="rId21"/>
    <p:sldId id="276" r:id="rId22"/>
    <p:sldId id="275" r:id="rId23"/>
    <p:sldId id="278" r:id="rId24"/>
    <p:sldId id="280" r:id="rId25"/>
    <p:sldId id="281" r:id="rId26"/>
    <p:sldId id="282" r:id="rId27"/>
    <p:sldId id="260" r:id="rId28"/>
    <p:sldId id="283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7030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61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12/22/2025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12/22/2025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B3791-C90E-A5A9-D358-1D063CDC5C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30385" y="276789"/>
            <a:ext cx="8791575" cy="1276708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 Segmentation Data Analysis</a:t>
            </a:r>
            <a:endParaRPr lang="en-IN" sz="3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4481D3-96B6-60A7-1E2A-7E666AEB2D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80333" y="1662545"/>
            <a:ext cx="8791575" cy="4021282"/>
          </a:xfrm>
        </p:spPr>
        <p:txBody>
          <a:bodyPr>
            <a:normAutofit fontScale="25000" lnSpcReduction="20000"/>
          </a:bodyPr>
          <a:lstStyle/>
          <a:p>
            <a:r>
              <a:rPr lang="en-US" sz="88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project : </a:t>
            </a:r>
            <a:r>
              <a:rPr lang="en-US" sz="8800" cap="none" dirty="0">
                <a:solidFill>
                  <a:schemeClr val="bg1">
                    <a:lumMod val="85000"/>
                    <a:lumOff val="15000"/>
                  </a:schemeClr>
                </a:solidFill>
              </a:rPr>
              <a:t>Project Customer Segmentation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                                                                                                                                                                </a:t>
            </a:r>
          </a:p>
          <a:p>
            <a:r>
              <a:rPr lang="en-US" dirty="0">
                <a:solidFill>
                  <a:srgbClr val="002060"/>
                </a:solidFill>
              </a:rPr>
              <a:t>                                                                                                                                                                     </a:t>
            </a:r>
            <a:r>
              <a:rPr lang="en-US" sz="3600" dirty="0"/>
              <a:t>             </a:t>
            </a:r>
          </a:p>
          <a:p>
            <a:r>
              <a:rPr lang="en-US" sz="8800" dirty="0">
                <a:solidFill>
                  <a:srgbClr val="002060"/>
                </a:solidFill>
              </a:rPr>
              <a:t>Project Team id.: PTID-CDA-AUG-25-661</a:t>
            </a:r>
          </a:p>
          <a:p>
            <a:r>
              <a:rPr lang="en-US" sz="8800" dirty="0">
                <a:solidFill>
                  <a:srgbClr val="002060"/>
                </a:solidFill>
              </a:rPr>
              <a:t>Date: 15/09/2025.</a:t>
            </a:r>
          </a:p>
          <a:p>
            <a:r>
              <a:rPr lang="en-US" sz="8800" dirty="0">
                <a:solidFill>
                  <a:schemeClr val="bg2">
                    <a:lumMod val="50000"/>
                  </a:schemeClr>
                </a:solidFill>
              </a:rPr>
              <a:t>- By </a:t>
            </a:r>
            <a:br>
              <a:rPr lang="en-US" sz="8800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n-US" sz="8800" dirty="0">
                <a:solidFill>
                  <a:schemeClr val="bg2">
                    <a:lumMod val="50000"/>
                  </a:schemeClr>
                </a:solidFill>
              </a:rPr>
              <a:t>Omkar Zingade,</a:t>
            </a:r>
            <a:br>
              <a:rPr lang="en-US" sz="8800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n-US" sz="8800" dirty="0">
                <a:solidFill>
                  <a:schemeClr val="bg2">
                    <a:lumMod val="50000"/>
                  </a:schemeClr>
                </a:solidFill>
              </a:rPr>
              <a:t>Nimish </a:t>
            </a:r>
            <a:r>
              <a:rPr lang="en-US" sz="8800" dirty="0" err="1">
                <a:solidFill>
                  <a:schemeClr val="bg2">
                    <a:lumMod val="50000"/>
                  </a:schemeClr>
                </a:solidFill>
              </a:rPr>
              <a:t>Bibave</a:t>
            </a:r>
            <a:r>
              <a:rPr lang="en-US" sz="8800" dirty="0">
                <a:solidFill>
                  <a:schemeClr val="bg2">
                    <a:lumMod val="50000"/>
                  </a:schemeClr>
                </a:solidFill>
              </a:rPr>
              <a:t> ,                                                                                                                                      </a:t>
            </a:r>
            <a:br>
              <a:rPr lang="en-US" sz="8800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n-US" sz="8800" dirty="0">
                <a:solidFill>
                  <a:schemeClr val="bg2">
                    <a:lumMod val="50000"/>
                  </a:schemeClr>
                </a:solidFill>
              </a:rPr>
              <a:t>Mayur Mate.</a:t>
            </a:r>
          </a:p>
        </p:txBody>
      </p:sp>
    </p:spTree>
    <p:extLst>
      <p:ext uri="{BB962C8B-B14F-4D97-AF65-F5344CB8AC3E}">
        <p14:creationId xmlns:p14="http://schemas.microsoft.com/office/powerpoint/2010/main" val="1052188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0ABF6-B873-912D-B0D3-D6160E5D4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3437FF-01A9-2309-5E38-319395CB59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761114"/>
            <a:ext cx="9905999" cy="4478367"/>
          </a:xfrm>
        </p:spPr>
        <p:txBody>
          <a:bodyPr/>
          <a:lstStyle/>
          <a:p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Customer Data Analysis : Unlocking Shopping Insights.</a:t>
            </a:r>
          </a:p>
          <a:p>
            <a:r>
              <a:rPr lang="en-IN" dirty="0">
                <a:solidFill>
                  <a:schemeClr val="bg1">
                    <a:lumMod val="85000"/>
                    <a:lumOff val="15000"/>
                  </a:schemeClr>
                </a:solidFill>
              </a:rPr>
              <a:t>T</a:t>
            </a:r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his project analyzes customer shopping data from 10 different malls in Istanbul, covering the years from 2021 to 2023.</a:t>
            </a:r>
          </a:p>
          <a:p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It examines customer demographics such as age and gender, alongside their purchasing habits, including product category and preferred payment method.</a:t>
            </a:r>
          </a:p>
          <a:p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The primary goal of this analysis is to understand customer behavior and derive actionable insights to enhance sales performance and boost overall revenue.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256696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8C3E4-02E4-A1B2-D8CE-BC887AB18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 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1EB302-2316-D9EB-D484-184E400FC7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548246"/>
            <a:ext cx="9905999" cy="4691236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The objective of this customer segmentation is to provide a comprehensive overview of </a:t>
            </a:r>
            <a:r>
              <a:rPr lang="en-IN" dirty="0">
                <a:solidFill>
                  <a:schemeClr val="bg1">
                    <a:lumMod val="85000"/>
                    <a:lumOff val="15000"/>
                  </a:schemeClr>
                </a:solidFill>
              </a:rPr>
              <a:t>shopping habits in Istanbul.</a:t>
            </a:r>
          </a:p>
          <a:p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To analyze purchasing patterns and revenue generation across different age groups and genders.</a:t>
            </a:r>
          </a:p>
          <a:p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To determine the most popular product categories and their specific contribution to the total revenue.</a:t>
            </a:r>
          </a:p>
          <a:p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To understand the trends and patterns of the various payment methods utilized by customers.</a:t>
            </a:r>
          </a:p>
          <a:p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To provide data-driven recommendations and strategic advice to support informed business growth decisions.</a:t>
            </a:r>
          </a:p>
          <a:p>
            <a:endParaRPr lang="en-IN" dirty="0">
              <a:solidFill>
                <a:schemeClr val="bg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0214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8298A-846F-2332-E3FD-178D62F9E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Attribute Information 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67AA8F-46B6-A0C5-31EF-FE0A9EA3D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672935"/>
            <a:ext cx="9905999" cy="4862947"/>
          </a:xfrm>
        </p:spPr>
        <p:txBody>
          <a:bodyPr/>
          <a:lstStyle/>
          <a:p>
            <a:r>
              <a:rPr lang="en-IN" b="1" dirty="0" err="1">
                <a:solidFill>
                  <a:schemeClr val="bg1">
                    <a:lumMod val="85000"/>
                    <a:lumOff val="15000"/>
                  </a:schemeClr>
                </a:solidFill>
              </a:rPr>
              <a:t>invoice_no</a:t>
            </a:r>
            <a:r>
              <a:rPr lang="en-IN" b="1" dirty="0">
                <a:solidFill>
                  <a:schemeClr val="bg1">
                    <a:lumMod val="85000"/>
                    <a:lumOff val="15000"/>
                  </a:schemeClr>
                </a:solidFill>
              </a:rPr>
              <a:t>: </a:t>
            </a:r>
            <a:r>
              <a:rPr lang="en-IN" dirty="0">
                <a:solidFill>
                  <a:schemeClr val="bg1">
                    <a:lumMod val="85000"/>
                    <a:lumOff val="15000"/>
                  </a:schemeClr>
                </a:solidFill>
              </a:rPr>
              <a:t>A combination of the letter 'I' and a 6-digit integer uniquely assigned to each operation.</a:t>
            </a:r>
          </a:p>
          <a:p>
            <a:r>
              <a:rPr lang="en-IN" b="1" dirty="0" err="1">
                <a:solidFill>
                  <a:schemeClr val="bg1">
                    <a:lumMod val="85000"/>
                    <a:lumOff val="15000"/>
                  </a:schemeClr>
                </a:solidFill>
              </a:rPr>
              <a:t>customer_id</a:t>
            </a:r>
            <a:r>
              <a:rPr lang="en-IN" b="1" dirty="0">
                <a:solidFill>
                  <a:schemeClr val="bg1">
                    <a:lumMod val="85000"/>
                    <a:lumOff val="15000"/>
                  </a:schemeClr>
                </a:solidFill>
              </a:rPr>
              <a:t>: </a:t>
            </a:r>
            <a:r>
              <a:rPr lang="en-IN" dirty="0">
                <a:solidFill>
                  <a:schemeClr val="bg1">
                    <a:lumMod val="85000"/>
                    <a:lumOff val="15000"/>
                  </a:schemeClr>
                </a:solidFill>
              </a:rPr>
              <a:t>A combination of the letter 'C' and a 6-digit integer uniquely assigned to each operation.</a:t>
            </a:r>
          </a:p>
          <a:p>
            <a:r>
              <a:rPr lang="en-IN" b="1" dirty="0">
                <a:solidFill>
                  <a:schemeClr val="bg1">
                    <a:lumMod val="85000"/>
                    <a:lumOff val="15000"/>
                  </a:schemeClr>
                </a:solidFill>
              </a:rPr>
              <a:t>gender: </a:t>
            </a:r>
            <a:r>
              <a:rPr lang="en-IN" dirty="0">
                <a:solidFill>
                  <a:schemeClr val="bg1">
                    <a:lumMod val="85000"/>
                    <a:lumOff val="15000"/>
                  </a:schemeClr>
                </a:solidFill>
              </a:rPr>
              <a:t>String variable of the customer's gender.</a:t>
            </a:r>
          </a:p>
          <a:p>
            <a:r>
              <a:rPr lang="en-IN" b="1" dirty="0">
                <a:solidFill>
                  <a:schemeClr val="bg1">
                    <a:lumMod val="85000"/>
                    <a:lumOff val="15000"/>
                  </a:schemeClr>
                </a:solidFill>
              </a:rPr>
              <a:t>age</a:t>
            </a:r>
            <a:r>
              <a:rPr lang="en-IN" dirty="0">
                <a:solidFill>
                  <a:schemeClr val="bg1">
                    <a:lumMod val="85000"/>
                    <a:lumOff val="15000"/>
                  </a:schemeClr>
                </a:solidFill>
              </a:rPr>
              <a:t>: Positive Integer variable of the customers age.</a:t>
            </a:r>
          </a:p>
          <a:p>
            <a:r>
              <a:rPr lang="en-IN" b="1" dirty="0">
                <a:solidFill>
                  <a:schemeClr val="bg1">
                    <a:lumMod val="85000"/>
                    <a:lumOff val="15000"/>
                  </a:schemeClr>
                </a:solidFill>
              </a:rPr>
              <a:t>category: </a:t>
            </a:r>
            <a:r>
              <a:rPr lang="en-IN" dirty="0">
                <a:solidFill>
                  <a:schemeClr val="bg1">
                    <a:lumMod val="85000"/>
                    <a:lumOff val="15000"/>
                  </a:schemeClr>
                </a:solidFill>
              </a:rPr>
              <a:t>String variable of the category of the purchased product.</a:t>
            </a:r>
          </a:p>
          <a:p>
            <a:r>
              <a:rPr lang="en-IN" b="1" dirty="0">
                <a:solidFill>
                  <a:schemeClr val="bg1">
                    <a:lumMod val="85000"/>
                    <a:lumOff val="15000"/>
                  </a:schemeClr>
                </a:solidFill>
              </a:rPr>
              <a:t>quantity: </a:t>
            </a:r>
            <a:r>
              <a:rPr lang="en-IN" dirty="0">
                <a:solidFill>
                  <a:schemeClr val="bg1">
                    <a:lumMod val="85000"/>
                    <a:lumOff val="15000"/>
                  </a:schemeClr>
                </a:solidFill>
              </a:rPr>
              <a:t>The quantities of each product (item) per transaction.</a:t>
            </a:r>
          </a:p>
          <a:p>
            <a:endParaRPr lang="en-IN" dirty="0">
              <a:solidFill>
                <a:schemeClr val="bg1">
                  <a:lumMod val="85000"/>
                  <a:lumOff val="15000"/>
                </a:schemeClr>
              </a:solidFill>
            </a:endParaRPr>
          </a:p>
          <a:p>
            <a:endParaRPr lang="en-IN" dirty="0">
              <a:solidFill>
                <a:schemeClr val="bg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5957448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D1D9-473A-56D2-0ECA-151FD6611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/>
              <a:t>Attribute Information :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C71031-1DC2-0BE0-E64C-D00EF24EA9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>
                <a:solidFill>
                  <a:schemeClr val="bg1">
                    <a:lumMod val="85000"/>
                    <a:lumOff val="15000"/>
                  </a:schemeClr>
                </a:solidFill>
              </a:rPr>
              <a:t>price:</a:t>
            </a:r>
            <a:r>
              <a:rPr lang="en-IN" dirty="0">
                <a:solidFill>
                  <a:schemeClr val="bg1">
                    <a:lumMod val="85000"/>
                    <a:lumOff val="15000"/>
                  </a:schemeClr>
                </a:solidFill>
              </a:rPr>
              <a:t> Product price per unit in Turkish Liras (TL).</a:t>
            </a:r>
          </a:p>
          <a:p>
            <a:r>
              <a:rPr lang="en-IN" b="1" dirty="0" err="1">
                <a:solidFill>
                  <a:schemeClr val="bg1">
                    <a:lumMod val="85000"/>
                    <a:lumOff val="15000"/>
                  </a:schemeClr>
                </a:solidFill>
              </a:rPr>
              <a:t>payment_method</a:t>
            </a:r>
            <a:r>
              <a:rPr lang="en-IN" b="1" dirty="0">
                <a:solidFill>
                  <a:schemeClr val="bg1">
                    <a:lumMod val="85000"/>
                    <a:lumOff val="15000"/>
                  </a:schemeClr>
                </a:solidFill>
              </a:rPr>
              <a:t>: </a:t>
            </a:r>
            <a:r>
              <a:rPr lang="en-IN" dirty="0">
                <a:solidFill>
                  <a:schemeClr val="bg1">
                    <a:lumMod val="85000"/>
                    <a:lumOff val="15000"/>
                  </a:schemeClr>
                </a:solidFill>
              </a:rPr>
              <a:t>String variable of the payment method (cash, credit card or debit card) used for the transaction.</a:t>
            </a:r>
          </a:p>
          <a:p>
            <a:r>
              <a:rPr lang="en-IN" b="1" dirty="0" err="1">
                <a:solidFill>
                  <a:schemeClr val="bg1">
                    <a:lumMod val="85000"/>
                    <a:lumOff val="15000"/>
                  </a:schemeClr>
                </a:solidFill>
              </a:rPr>
              <a:t>invoice_date</a:t>
            </a:r>
            <a:r>
              <a:rPr lang="en-IN" b="1" dirty="0">
                <a:solidFill>
                  <a:schemeClr val="bg1">
                    <a:lumMod val="85000"/>
                    <a:lumOff val="15000"/>
                  </a:schemeClr>
                </a:solidFill>
              </a:rPr>
              <a:t>: </a:t>
            </a:r>
            <a:r>
              <a:rPr lang="en-IN" dirty="0">
                <a:solidFill>
                  <a:schemeClr val="bg1">
                    <a:lumMod val="85000"/>
                    <a:lumOff val="15000"/>
                  </a:schemeClr>
                </a:solidFill>
              </a:rPr>
              <a:t>The day when a transaction was generated.</a:t>
            </a:r>
          </a:p>
          <a:p>
            <a:r>
              <a:rPr lang="en-IN" b="1" dirty="0" err="1">
                <a:solidFill>
                  <a:schemeClr val="bg1">
                    <a:lumMod val="85000"/>
                    <a:lumOff val="15000"/>
                  </a:schemeClr>
                </a:solidFill>
              </a:rPr>
              <a:t>shopping_mall</a:t>
            </a:r>
            <a:r>
              <a:rPr lang="en-IN" b="1" dirty="0">
                <a:solidFill>
                  <a:schemeClr val="bg1">
                    <a:lumMod val="85000"/>
                    <a:lumOff val="15000"/>
                  </a:schemeClr>
                </a:solidFill>
              </a:rPr>
              <a:t>: </a:t>
            </a:r>
            <a:r>
              <a:rPr lang="en-IN" dirty="0">
                <a:solidFill>
                  <a:schemeClr val="bg1">
                    <a:lumMod val="85000"/>
                    <a:lumOff val="15000"/>
                  </a:schemeClr>
                </a:solidFill>
              </a:rPr>
              <a:t>String variable of the name of the shopping mall where the transaction was made.</a:t>
            </a:r>
          </a:p>
          <a:p>
            <a:pPr marL="0" indent="0">
              <a:buNone/>
            </a:pPr>
            <a:endParaRPr lang="en-IN" dirty="0">
              <a:solidFill>
                <a:schemeClr val="bg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9552280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E5143-E0E4-4FAB-E67E-DD94960E5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Methodology 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C2476-18E8-33B0-740E-F720028083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849582"/>
            <a:ext cx="9905999" cy="3941619"/>
          </a:xfrm>
        </p:spPr>
        <p:txBody>
          <a:bodyPr>
            <a:normAutofit fontScale="92500" lnSpcReduction="10000"/>
          </a:bodyPr>
          <a:lstStyle/>
          <a:p>
            <a:r>
              <a:rPr lang="en-US" altLang="en-US" b="1" dirty="0">
                <a:solidFill>
                  <a:srgbClr val="002060"/>
                </a:solidFill>
              </a:rPr>
              <a:t>Data Source:</a:t>
            </a:r>
            <a:r>
              <a:rPr lang="en-US" altLang="en-US" dirty="0">
                <a:solidFill>
                  <a:srgbClr val="002060"/>
                </a:solidFill>
              </a:rPr>
              <a:t> </a:t>
            </a:r>
            <a:r>
              <a:rPr lang="en-US" altLang="en-US" dirty="0" err="1">
                <a:solidFill>
                  <a:srgbClr val="002060"/>
                </a:solidFill>
              </a:rPr>
              <a:t>project</a:t>
            </a:r>
            <a:r>
              <a:rPr lang="en-US" altLang="en-US" b="1" dirty="0" err="1">
                <a:solidFill>
                  <a:schemeClr val="bg1">
                    <a:lumMod val="95000"/>
                    <a:lumOff val="5000"/>
                  </a:schemeClr>
                </a:solidFill>
              </a:rPr>
              <a:t>_</a:t>
            </a:r>
            <a:r>
              <a:rPr lang="en-US" altLang="en-US" dirty="0" err="1">
                <a:solidFill>
                  <a:srgbClr val="002060"/>
                </a:solidFill>
              </a:rPr>
              <a:t>customer</a:t>
            </a:r>
            <a:r>
              <a:rPr lang="en-US" altLang="en-US" b="1" dirty="0" err="1">
                <a:solidFill>
                  <a:schemeClr val="bg1">
                    <a:lumMod val="95000"/>
                    <a:lumOff val="5000"/>
                  </a:schemeClr>
                </a:solidFill>
              </a:rPr>
              <a:t>_</a:t>
            </a:r>
            <a:r>
              <a:rPr lang="en-US" altLang="en-US" dirty="0" err="1">
                <a:solidFill>
                  <a:srgbClr val="002060"/>
                </a:solidFill>
              </a:rPr>
              <a:t>segmentation</a:t>
            </a:r>
            <a:r>
              <a:rPr lang="en-US" altLang="en-US" dirty="0">
                <a:solidFill>
                  <a:srgbClr val="002060"/>
                </a:solidFill>
              </a:rPr>
              <a:t> </a:t>
            </a:r>
            <a:r>
              <a:rPr lang="en-US" altLang="en-US" dirty="0">
                <a:solidFill>
                  <a:schemeClr val="tx1">
                    <a:lumMod val="95000"/>
                  </a:schemeClr>
                </a:solidFill>
              </a:rPr>
              <a:t>dataset</a:t>
            </a:r>
            <a:r>
              <a:rPr lang="en-US" altLang="en-US" dirty="0"/>
              <a:t>(99,457 rows records, 14 columns).</a:t>
            </a:r>
          </a:p>
          <a:p>
            <a:r>
              <a:rPr lang="en-US" altLang="en-US" b="1" dirty="0">
                <a:solidFill>
                  <a:srgbClr val="002060"/>
                </a:solidFill>
              </a:rPr>
              <a:t>Tools Used: </a:t>
            </a:r>
            <a:r>
              <a:rPr lang="en-US" alt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Power BI, Power Query, DAX.</a:t>
            </a:r>
          </a:p>
          <a:p>
            <a:r>
              <a:rPr lang="en-US" altLang="en-US" b="1" dirty="0">
                <a:solidFill>
                  <a:srgbClr val="002060"/>
                </a:solidFill>
              </a:rPr>
              <a:t>Steps in Project: </a:t>
            </a:r>
            <a:r>
              <a:rPr lang="en-US" alt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Data Connection, Data Import , Data Walkthrough, </a:t>
            </a:r>
            <a:br>
              <a:rPr lang="en-US" alt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</a:br>
            <a:r>
              <a:rPr lang="en-US" alt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                         Data Cleaning / Quality Check, Data Modeling, </a:t>
            </a:r>
            <a:br>
              <a:rPr lang="en-US" alt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</a:br>
            <a:r>
              <a:rPr lang="en-US" alt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                         Data Processing, DAX Calculations, Dashboard Lay outing,</a:t>
            </a:r>
            <a:br>
              <a:rPr lang="en-US" alt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</a:br>
            <a:r>
              <a:rPr lang="en-US" alt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                         Visuals &amp; Charts Development and Formatting, </a:t>
            </a:r>
            <a:br>
              <a:rPr lang="en-US" alt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</a:br>
            <a:r>
              <a:rPr lang="en-US" alt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                         Dashboard / Report Development, Insights Generation.</a:t>
            </a:r>
          </a:p>
          <a:p>
            <a:pPr marL="0" indent="0">
              <a:buNone/>
            </a:pPr>
            <a:r>
              <a:rPr lang="en-US" altLang="en-US" dirty="0">
                <a:solidFill>
                  <a:schemeClr val="tx1">
                    <a:lumMod val="95000"/>
                  </a:schemeClr>
                </a:solidFill>
              </a:rPr>
              <a:t>                    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015659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51E54-88CD-EE5B-B0A1-C5F5EDC0C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Methodology 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B55B26-4DC4-9B04-86F8-4DF17CD2E3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704108"/>
            <a:ext cx="9905999" cy="4696691"/>
          </a:xfrm>
        </p:spPr>
        <p:txBody>
          <a:bodyPr>
            <a:normAutofit fontScale="92500"/>
          </a:bodyPr>
          <a:lstStyle/>
          <a:p>
            <a:r>
              <a:rPr lang="en-US" altLang="en-US" b="1" dirty="0">
                <a:solidFill>
                  <a:srgbClr val="002060"/>
                </a:solidFill>
              </a:rPr>
              <a:t>Data Source:</a:t>
            </a:r>
            <a:r>
              <a:rPr lang="en-US" altLang="en-US" dirty="0">
                <a:solidFill>
                  <a:srgbClr val="002060"/>
                </a:solidFill>
              </a:rPr>
              <a:t> </a:t>
            </a:r>
            <a:r>
              <a:rPr lang="en-US" altLang="en-US" dirty="0"/>
              <a:t>project</a:t>
            </a:r>
            <a:r>
              <a:rPr lang="en-US" altLang="en-US" b="1" dirty="0"/>
              <a:t> </a:t>
            </a:r>
            <a:r>
              <a:rPr lang="en-US" altLang="en-US" dirty="0"/>
              <a:t>customer</a:t>
            </a:r>
            <a:r>
              <a:rPr lang="en-US" altLang="en-US" b="1" dirty="0"/>
              <a:t> </a:t>
            </a:r>
            <a:r>
              <a:rPr lang="en-US" altLang="en-US" dirty="0"/>
              <a:t>segmentation dataset (Table Name: </a:t>
            </a:r>
            <a:r>
              <a:rPr lang="en-US" altLang="en-US" b="1" dirty="0"/>
              <a:t>customer</a:t>
            </a:r>
            <a:r>
              <a:rPr lang="en-US" altLang="en-US" dirty="0"/>
              <a:t>)</a:t>
            </a:r>
          </a:p>
          <a:p>
            <a:r>
              <a:rPr lang="en-US" altLang="en-US" b="1" dirty="0">
                <a:solidFill>
                  <a:srgbClr val="002060"/>
                </a:solidFill>
              </a:rPr>
              <a:t>Steps Performed 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 Data Import and (Load, Transform, Extract), Pre-processing, Cleaning 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Built DAX measures for KPIs (Total Revenue, Total Products Sold, Age Group),</a:t>
            </a:r>
            <a:br>
              <a:rPr lang="en-US" alt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</a:br>
            <a:r>
              <a:rPr lang="en-US" alt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   Average Transaction Value, Month, Month-Year, Year.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 Developed Visuals — KPIs, line chart, donut chart, column &amp; bar charts, Pie chart,</a:t>
            </a:r>
            <a:br>
              <a:rPr lang="en-US" alt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</a:br>
            <a:r>
              <a:rPr lang="en-US" alt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                                  Funnel, Table.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 Added slicers for interactive filtering. (shopping mall, product category, payment method, Age </a:t>
            </a:r>
            <a:r>
              <a:rPr lang="en-US" altLang="en-US">
                <a:solidFill>
                  <a:schemeClr val="bg1">
                    <a:lumMod val="85000"/>
                    <a:lumOff val="15000"/>
                  </a:schemeClr>
                </a:solidFill>
              </a:rPr>
              <a:t>group).</a:t>
            </a:r>
            <a:endParaRPr lang="en-US" altLang="en-US" dirty="0">
              <a:solidFill>
                <a:schemeClr val="bg1">
                  <a:lumMod val="85000"/>
                  <a:lumOff val="15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altLang="en-US" dirty="0"/>
          </a:p>
          <a:p>
            <a:pPr>
              <a:buFont typeface="Wingdings" panose="05000000000000000000" pitchFamily="2" charset="2"/>
              <a:buChar char="Ø"/>
            </a:pP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>
              <a:buFont typeface="Wingdings" panose="05000000000000000000" pitchFamily="2" charset="2"/>
              <a:buChar char="Ø"/>
            </a:pPr>
            <a:endParaRPr lang="en-US" altLang="en-US" dirty="0"/>
          </a:p>
          <a:p>
            <a:pPr>
              <a:buFont typeface="Wingdings" panose="05000000000000000000" pitchFamily="2" charset="2"/>
              <a:buChar char="Ø"/>
            </a:pPr>
            <a:endParaRPr lang="en-US" altLang="en-US" dirty="0"/>
          </a:p>
          <a:p>
            <a:pPr>
              <a:buFont typeface="Wingdings" panose="05000000000000000000" pitchFamily="2" charset="2"/>
              <a:buChar char="Ø"/>
            </a:pPr>
            <a:endParaRPr lang="en-US" altLang="en-US" b="1" dirty="0">
              <a:solidFill>
                <a:srgbClr val="002060"/>
              </a:solidFill>
            </a:endParaRPr>
          </a:p>
          <a:p>
            <a:endParaRPr lang="en-IN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9775096"/>
      </p:ext>
    </p:extLst>
  </p:cSld>
  <p:clrMapOvr>
    <a:masterClrMapping/>
  </p:clrMapOvr>
  <p:transition spd="slow">
    <p:randomBar dir="vert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1C253-E163-5A5A-1757-F54B5EC8C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327514"/>
            <a:ext cx="9905998" cy="1478570"/>
          </a:xfrm>
        </p:spPr>
        <p:txBody>
          <a:bodyPr/>
          <a:lstStyle/>
          <a:p>
            <a:r>
              <a:rPr lang="en-US" dirty="0"/>
              <a:t>Database connection :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21CC96-FDCB-CBC5-4B58-E0358F6F32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541866"/>
            <a:ext cx="9905999" cy="4024746"/>
          </a:xfrm>
        </p:spPr>
        <p:txBody>
          <a:bodyPr/>
          <a:lstStyle/>
          <a:p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Database connection from given credentials:</a:t>
            </a:r>
          </a:p>
          <a:p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Connect the database with MySQL Workbench using the credentials provided.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781068-A352-F969-BF7B-314523D87C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6392" y="2841148"/>
            <a:ext cx="7266338" cy="3689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5431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4BAE95-0243-30E2-15AC-BB723B2C87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592282"/>
            <a:ext cx="9905999" cy="5198919"/>
          </a:xfrm>
        </p:spPr>
        <p:txBody>
          <a:bodyPr/>
          <a:lstStyle/>
          <a:p>
            <a:r>
              <a:rPr lang="en-US" dirty="0"/>
              <a:t>Now using SQL Query (select * from customer) get the data.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0405C9-7A07-A66A-5869-B399A8CE32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6247" y="1174173"/>
            <a:ext cx="6608598" cy="537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0969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D3896-1A59-7BA2-98C4-78C45E759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374073"/>
            <a:ext cx="9905998" cy="862445"/>
          </a:xfrm>
        </p:spPr>
        <p:txBody>
          <a:bodyPr/>
          <a:lstStyle/>
          <a:p>
            <a:r>
              <a:rPr lang="en-US" cap="none" dirty="0"/>
              <a:t>Overview : Customer data Analysis </a:t>
            </a:r>
            <a:endParaRPr lang="en-IN" cap="non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77583A-AA8C-376F-A5FD-960DDE4D00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371600"/>
            <a:ext cx="9905999" cy="4821382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KPI – </a:t>
            </a:r>
            <a:r>
              <a:rPr lang="en-US" u="sng" dirty="0">
                <a:solidFill>
                  <a:schemeClr val="bg1">
                    <a:lumMod val="85000"/>
                    <a:lumOff val="15000"/>
                  </a:schemeClr>
                </a:solidFill>
              </a:rPr>
              <a:t>Average Transaction value </a:t>
            </a:r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– created a DAX measure</a:t>
            </a:r>
            <a:b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</a:br>
            <a:r>
              <a:rPr lang="en-US" b="1" dirty="0">
                <a:solidFill>
                  <a:schemeClr val="bg1">
                    <a:lumMod val="85000"/>
                    <a:lumOff val="15000"/>
                  </a:schemeClr>
                </a:solidFill>
              </a:rPr>
              <a:t>1</a:t>
            </a:r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. Average transaction value = 2.53 K</a:t>
            </a:r>
            <a:b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</a:br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= DIVIDE([Total Revenue], DISTINCTCOUNT('</a:t>
            </a:r>
            <a:r>
              <a:rPr lang="en-US" dirty="0" err="1">
                <a:solidFill>
                  <a:schemeClr val="bg1">
                    <a:lumMod val="85000"/>
                    <a:lumOff val="15000"/>
                  </a:schemeClr>
                </a:solidFill>
              </a:rPr>
              <a:t>project_customer_segmentation</a:t>
            </a:r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 customer'[</a:t>
            </a:r>
            <a:r>
              <a:rPr lang="en-US" dirty="0" err="1">
                <a:solidFill>
                  <a:schemeClr val="bg1">
                    <a:lumMod val="85000"/>
                    <a:lumOff val="15000"/>
                  </a:schemeClr>
                </a:solidFill>
              </a:rPr>
              <a:t>invoice_no</a:t>
            </a:r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]))        </a:t>
            </a:r>
          </a:p>
          <a:p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2. Total Revenue = 252 M</a:t>
            </a:r>
            <a:b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</a:br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SUMX('</a:t>
            </a:r>
            <a:r>
              <a:rPr lang="en-US" dirty="0" err="1">
                <a:solidFill>
                  <a:schemeClr val="bg1">
                    <a:lumMod val="85000"/>
                    <a:lumOff val="15000"/>
                  </a:schemeClr>
                </a:solidFill>
              </a:rPr>
              <a:t>project_customer_segmentation</a:t>
            </a:r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 customer','</a:t>
            </a:r>
            <a:r>
              <a:rPr lang="en-US" dirty="0" err="1">
                <a:solidFill>
                  <a:schemeClr val="bg1">
                    <a:lumMod val="85000"/>
                    <a:lumOff val="15000"/>
                  </a:schemeClr>
                </a:solidFill>
              </a:rPr>
              <a:t>project_customer_segmentation</a:t>
            </a:r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 customer'[quantity] * '</a:t>
            </a:r>
            <a:r>
              <a:rPr lang="en-US" dirty="0" err="1">
                <a:solidFill>
                  <a:schemeClr val="bg1">
                    <a:lumMod val="85000"/>
                    <a:lumOff val="15000"/>
                  </a:schemeClr>
                </a:solidFill>
              </a:rPr>
              <a:t>project_customer_segmentation</a:t>
            </a:r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 customer'[price])     </a:t>
            </a:r>
            <a:br>
              <a:rPr lang="en-US" dirty="0"/>
            </a:br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Insight:</a:t>
            </a:r>
            <a:r>
              <a:rPr lang="en-US" dirty="0"/>
              <a:t> </a:t>
            </a:r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The maximum revenue by gender is from Females 150M.</a:t>
            </a:r>
            <a:b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</a:br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The maximum Revenue is from </a:t>
            </a:r>
            <a:r>
              <a:rPr lang="en-US" dirty="0" err="1">
                <a:solidFill>
                  <a:schemeClr val="bg1">
                    <a:lumMod val="85000"/>
                    <a:lumOff val="15000"/>
                  </a:schemeClr>
                </a:solidFill>
              </a:rPr>
              <a:t>Age_group</a:t>
            </a:r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 36-45 (Adults middle age group) is</a:t>
            </a:r>
            <a:b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</a:br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50M (50,184,235) </a:t>
            </a:r>
          </a:p>
          <a:p>
            <a:endParaRPr lang="en-US" dirty="0">
              <a:solidFill>
                <a:schemeClr val="bg1">
                  <a:lumMod val="85000"/>
                  <a:lumOff val="15000"/>
                </a:schemeClr>
              </a:solidFill>
            </a:endParaRP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DF2A62-C5A7-7813-722C-202E55CCDF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6689" y="2716479"/>
            <a:ext cx="1933125" cy="1196444"/>
          </a:xfrm>
          <a:prstGeom prst="rect">
            <a:avLst/>
          </a:prstGeom>
          <a:ln>
            <a:solidFill>
              <a:srgbClr val="FFC000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9D3CF2C-53BA-81E2-1570-57B3974C3B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7050" y="2716479"/>
            <a:ext cx="1933125" cy="1196444"/>
          </a:xfrm>
          <a:prstGeom prst="rect">
            <a:avLst/>
          </a:prstGeom>
          <a:effectLst>
            <a:glow rad="139700">
              <a:schemeClr val="accent6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22498814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968C4-1F20-9096-8034-E0FA973C2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306789"/>
            <a:ext cx="9905998" cy="908946"/>
          </a:xfrm>
        </p:spPr>
        <p:txBody>
          <a:bodyPr/>
          <a:lstStyle/>
          <a:p>
            <a:r>
              <a:rPr lang="en-US" dirty="0"/>
              <a:t>KPI</a:t>
            </a:r>
            <a:r>
              <a:rPr lang="en-US" cap="none" dirty="0"/>
              <a:t>s</a:t>
            </a:r>
            <a:r>
              <a:rPr lang="en-US" dirty="0"/>
              <a:t> 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DBB3E2A-9FC9-1CCC-F731-ECC9C6EDB5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49254" y="1132608"/>
            <a:ext cx="8597583" cy="163914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0F07DAF-CBAA-C125-BE22-1A0B7BC6A179}"/>
              </a:ext>
            </a:extLst>
          </p:cNvPr>
          <p:cNvSpPr txBox="1"/>
          <p:nvPr/>
        </p:nvSpPr>
        <p:spPr>
          <a:xfrm>
            <a:off x="1249254" y="3046550"/>
            <a:ext cx="859758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Total Revenue is 252 millions, while maximum Revenue is from Clothing category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.</a:t>
            </a:r>
            <a:br>
              <a:rPr lang="en-US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n-US" dirty="0"/>
              <a:t> </a:t>
            </a:r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1.</a:t>
            </a:r>
            <a:r>
              <a:rPr lang="en-US" b="1" dirty="0">
                <a:solidFill>
                  <a:schemeClr val="bg1">
                    <a:lumMod val="85000"/>
                    <a:lumOff val="15000"/>
                  </a:schemeClr>
                </a:solidFill>
              </a:rPr>
              <a:t>Primary Payment Source:</a:t>
            </a:r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 </a:t>
            </a:r>
            <a:r>
              <a:rPr lang="en-US" b="1" dirty="0">
                <a:solidFill>
                  <a:schemeClr val="bg1">
                    <a:lumMod val="85000"/>
                    <a:lumOff val="15000"/>
                  </a:schemeClr>
                </a:solidFill>
              </a:rPr>
              <a:t>Credit Card</a:t>
            </a:r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 and </a:t>
            </a:r>
            <a:r>
              <a:rPr lang="en-US" b="1" dirty="0">
                <a:solidFill>
                  <a:schemeClr val="bg1">
                    <a:lumMod val="85000"/>
                    <a:lumOff val="15000"/>
                  </a:schemeClr>
                </a:solidFill>
              </a:rPr>
              <a:t>Cash</a:t>
            </a:r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 are the two payment options generating the highest revenue. It is crucial to ensure customers receive a fast and secure transaction process for both these methods.</a:t>
            </a:r>
            <a:b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</a:br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2. </a:t>
            </a:r>
            <a:r>
              <a:rPr lang="en-US" b="1" dirty="0">
                <a:solidFill>
                  <a:schemeClr val="bg1">
                    <a:lumMod val="85000"/>
                    <a:lumOff val="15000"/>
                  </a:schemeClr>
                </a:solidFill>
              </a:rPr>
              <a:t>Debit Card Opportunity:</a:t>
            </a:r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 </a:t>
            </a:r>
            <a:r>
              <a:rPr lang="en-US" b="1" dirty="0">
                <a:solidFill>
                  <a:schemeClr val="bg1">
                    <a:lumMod val="85000"/>
                    <a:lumOff val="15000"/>
                  </a:schemeClr>
                </a:solidFill>
              </a:rPr>
              <a:t>Debit Card</a:t>
            </a:r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 usage accounts for very low revenue contribution. There is a significant opportunity to attract customers using debit cards through special discounts or reward points.</a:t>
            </a:r>
          </a:p>
          <a:p>
            <a:r>
              <a:rPr lang="en-US" b="1" dirty="0">
                <a:solidFill>
                  <a:schemeClr val="bg1">
                    <a:lumMod val="85000"/>
                    <a:lumOff val="15000"/>
                  </a:schemeClr>
                </a:solidFill>
              </a:rPr>
              <a:t>3. Cash Management:</a:t>
            </a:r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 Since cash transactions account for a large share of total sales, focus must be placed on accurate cash handling and security to prevent theft.</a:t>
            </a:r>
          </a:p>
          <a:p>
            <a:b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</a:br>
            <a:endParaRPr lang="en-IN" dirty="0">
              <a:solidFill>
                <a:schemeClr val="bg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70003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0FF68-D575-4D77-2C95-EB0F7E7B6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763473"/>
          </a:xfrm>
        </p:spPr>
        <p:txBody>
          <a:bodyPr>
            <a:normAutofit/>
          </a:bodyPr>
          <a:lstStyle/>
          <a:p>
            <a:r>
              <a:rPr lang="en-US" sz="3200" cap="none" dirty="0"/>
              <a:t>Slicers To Filter and Track Data : </a:t>
            </a:r>
            <a:endParaRPr lang="en-IN" sz="3200" cap="non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AAE1D5-E042-48FA-1F44-86C706845E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7124" y="1381990"/>
            <a:ext cx="10174575" cy="4998027"/>
          </a:xfrm>
        </p:spPr>
        <p:txBody>
          <a:bodyPr>
            <a:normAutofit fontScale="25000" lnSpcReduction="20000"/>
          </a:bodyPr>
          <a:lstStyle/>
          <a:p>
            <a:r>
              <a:rPr lang="en-US" sz="68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Here for </a:t>
            </a:r>
            <a:r>
              <a:rPr lang="en-US" sz="6800" dirty="0" err="1">
                <a:solidFill>
                  <a:schemeClr val="bg1">
                    <a:lumMod val="85000"/>
                    <a:lumOff val="15000"/>
                  </a:schemeClr>
                </a:solidFill>
              </a:rPr>
              <a:t>eg.</a:t>
            </a:r>
            <a:r>
              <a:rPr lang="en-US" sz="68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 –                                      </a:t>
            </a:r>
          </a:p>
          <a:p>
            <a:r>
              <a:rPr lang="en-US" sz="68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Shopping mall- Mall of </a:t>
            </a:r>
            <a:r>
              <a:rPr lang="en-US" sz="6800" dirty="0" err="1">
                <a:solidFill>
                  <a:schemeClr val="bg1">
                    <a:lumMod val="85000"/>
                    <a:lumOff val="15000"/>
                  </a:schemeClr>
                </a:solidFill>
              </a:rPr>
              <a:t>Istambul</a:t>
            </a:r>
            <a:r>
              <a:rPr lang="en-US" sz="68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                             </a:t>
            </a:r>
          </a:p>
          <a:p>
            <a:r>
              <a:rPr lang="en-US" sz="68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Product category- Clothing</a:t>
            </a:r>
          </a:p>
          <a:p>
            <a:r>
              <a:rPr lang="en-US" sz="68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Payment method- Cash</a:t>
            </a:r>
          </a:p>
          <a:p>
            <a:r>
              <a:rPr lang="en-US" sz="68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Following Insights can be </a:t>
            </a:r>
            <a:br>
              <a:rPr lang="en-US" sz="6800" dirty="0">
                <a:solidFill>
                  <a:schemeClr val="bg1">
                    <a:lumMod val="85000"/>
                    <a:lumOff val="15000"/>
                  </a:schemeClr>
                </a:solidFill>
              </a:rPr>
            </a:br>
            <a:r>
              <a:rPr lang="en-US" sz="68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generated:</a:t>
            </a:r>
            <a:br>
              <a:rPr lang="en-US" sz="6800" dirty="0">
                <a:solidFill>
                  <a:schemeClr val="bg1">
                    <a:lumMod val="85000"/>
                    <a:lumOff val="15000"/>
                  </a:schemeClr>
                </a:solidFill>
              </a:rPr>
            </a:br>
            <a:r>
              <a:rPr lang="en-US" sz="68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For The mall of </a:t>
            </a:r>
            <a:r>
              <a:rPr lang="en-US" sz="6800" dirty="0" err="1">
                <a:solidFill>
                  <a:schemeClr val="bg1">
                    <a:lumMod val="85000"/>
                    <a:lumOff val="15000"/>
                  </a:schemeClr>
                </a:solidFill>
              </a:rPr>
              <a:t>Istambul</a:t>
            </a:r>
            <a:r>
              <a:rPr lang="en-US" sz="68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, the revenue was  </a:t>
            </a:r>
            <a:br>
              <a:rPr lang="en-US" sz="6800" dirty="0">
                <a:solidFill>
                  <a:schemeClr val="bg1">
                    <a:lumMod val="85000"/>
                    <a:lumOff val="15000"/>
                  </a:schemeClr>
                </a:solidFill>
              </a:rPr>
            </a:br>
            <a:r>
              <a:rPr lang="en-US" sz="68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generated is 10 </a:t>
            </a:r>
            <a:r>
              <a:rPr lang="en-US" sz="6800" dirty="0" err="1">
                <a:solidFill>
                  <a:schemeClr val="bg1">
                    <a:lumMod val="85000"/>
                    <a:lumOff val="15000"/>
                  </a:schemeClr>
                </a:solidFill>
              </a:rPr>
              <a:t>Million,Total</a:t>
            </a:r>
            <a:r>
              <a:rPr lang="en-US" sz="68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6800" dirty="0" err="1">
                <a:solidFill>
                  <a:schemeClr val="bg1">
                    <a:lumMod val="85000"/>
                    <a:lumOff val="15000"/>
                  </a:schemeClr>
                </a:solidFill>
              </a:rPr>
              <a:t>ProductsSold</a:t>
            </a:r>
            <a:r>
              <a:rPr lang="en-US" sz="68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 </a:t>
            </a:r>
            <a:br>
              <a:rPr lang="en-US" sz="6800" dirty="0">
                <a:solidFill>
                  <a:schemeClr val="bg1">
                    <a:lumMod val="85000"/>
                    <a:lumOff val="15000"/>
                  </a:schemeClr>
                </a:solidFill>
              </a:rPr>
            </a:br>
            <a:r>
              <a:rPr lang="en-US" sz="68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was 9K, which is the highest units sold, Total </a:t>
            </a:r>
            <a:br>
              <a:rPr lang="en-US" sz="6800" dirty="0">
                <a:solidFill>
                  <a:schemeClr val="bg1">
                    <a:lumMod val="85000"/>
                    <a:lumOff val="15000"/>
                  </a:schemeClr>
                </a:solidFill>
              </a:rPr>
            </a:br>
            <a:r>
              <a:rPr lang="en-US" sz="68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customers are 3116, Average Transaction </a:t>
            </a:r>
            <a:br>
              <a:rPr lang="en-US" sz="6800" dirty="0">
                <a:solidFill>
                  <a:schemeClr val="bg1">
                    <a:lumMod val="85000"/>
                    <a:lumOff val="15000"/>
                  </a:schemeClr>
                </a:solidFill>
              </a:rPr>
            </a:br>
            <a:r>
              <a:rPr lang="en-US" sz="68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value was 3.36K .  </a:t>
            </a:r>
          </a:p>
          <a:p>
            <a:r>
              <a:rPr lang="en-US" sz="68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Also the Revenue generated via Cash </a:t>
            </a:r>
            <a:br>
              <a:rPr lang="en-US" sz="6800" dirty="0">
                <a:solidFill>
                  <a:schemeClr val="bg1">
                    <a:lumMod val="85000"/>
                    <a:lumOff val="15000"/>
                  </a:schemeClr>
                </a:solidFill>
              </a:rPr>
            </a:br>
            <a:r>
              <a:rPr lang="en-US" sz="68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payments which was the highest 99.91%.</a:t>
            </a:r>
            <a:br>
              <a:rPr lang="en-US" sz="6800" dirty="0">
                <a:solidFill>
                  <a:schemeClr val="bg1">
                    <a:lumMod val="85000"/>
                    <a:lumOff val="15000"/>
                  </a:schemeClr>
                </a:solidFill>
              </a:rPr>
            </a:br>
            <a:r>
              <a:rPr lang="en-US" sz="68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TSA: Total Revenue and Total Products sold </a:t>
            </a:r>
            <a:br>
              <a:rPr lang="en-US" sz="6800" dirty="0">
                <a:solidFill>
                  <a:schemeClr val="bg1">
                    <a:lumMod val="85000"/>
                    <a:lumOff val="15000"/>
                  </a:schemeClr>
                </a:solidFill>
              </a:rPr>
            </a:br>
            <a:r>
              <a:rPr lang="en-US" sz="68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were gone decreasing from year 2022, 4.8 M to </a:t>
            </a:r>
            <a:br>
              <a:rPr lang="en-US" sz="6800" dirty="0">
                <a:solidFill>
                  <a:schemeClr val="bg1">
                    <a:lumMod val="85000"/>
                    <a:lumOff val="15000"/>
                  </a:schemeClr>
                </a:solidFill>
              </a:rPr>
            </a:br>
            <a:r>
              <a:rPr lang="en-US" sz="68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85.9 K in 2023 Year. 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80FF5D-5EA5-F6E2-C23B-E4A9D7899B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6586" y="1932708"/>
            <a:ext cx="6745414" cy="37629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FD2348E-97CA-D2DD-9F4C-041E68C222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8455" y="685062"/>
            <a:ext cx="5770418" cy="763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6221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8AB2B-DFCB-FCB2-A695-85E7FB174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4" y="184969"/>
            <a:ext cx="9905998" cy="1478570"/>
          </a:xfrm>
        </p:spPr>
        <p:txBody>
          <a:bodyPr>
            <a:normAutofit/>
          </a:bodyPr>
          <a:lstStyle/>
          <a:p>
            <a:r>
              <a:rPr lang="en-US" sz="3200" cap="none" dirty="0"/>
              <a:t>Total Customers and total products sold</a:t>
            </a:r>
            <a:endParaRPr lang="en-IN" sz="3200" cap="non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B6C6A2-E93B-3F0F-E444-F93177733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4" y="1428605"/>
            <a:ext cx="9905999" cy="4753986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For KPI – Total Products Sold = 299K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bg1">
                    <a:lumMod val="85000"/>
                    <a:lumOff val="15000"/>
                  </a:schemeClr>
                </a:solidFill>
              </a:rPr>
              <a:t>3.Total Products Sold </a:t>
            </a:r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= SUM('</a:t>
            </a:r>
            <a:r>
              <a:rPr lang="en-US" dirty="0" err="1">
                <a:solidFill>
                  <a:schemeClr val="bg1">
                    <a:lumMod val="85000"/>
                    <a:lumOff val="15000"/>
                  </a:schemeClr>
                </a:solidFill>
              </a:rPr>
              <a:t>project_customer_segmentation</a:t>
            </a:r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 customer'[quantity])                                                     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bg1">
                    <a:lumMod val="85000"/>
                    <a:lumOff val="15000"/>
                  </a:schemeClr>
                </a:solidFill>
              </a:rPr>
              <a:t>4. Total Customers </a:t>
            </a:r>
            <a:r>
              <a:rPr lang="en-IN" dirty="0">
                <a:solidFill>
                  <a:schemeClr val="bg1">
                    <a:lumMod val="85000"/>
                    <a:lumOff val="15000"/>
                  </a:schemeClr>
                </a:solidFill>
              </a:rPr>
              <a:t>= 99.46K</a:t>
            </a:r>
            <a:br>
              <a:rPr lang="en-IN" dirty="0"/>
            </a:br>
            <a:r>
              <a:rPr lang="en-IN" dirty="0">
                <a:solidFill>
                  <a:schemeClr val="bg1">
                    <a:lumMod val="85000"/>
                    <a:lumOff val="15000"/>
                  </a:schemeClr>
                </a:solidFill>
              </a:rPr>
              <a:t>Total Customers = Total Customer ID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bg1">
                    <a:lumMod val="85000"/>
                    <a:lumOff val="15000"/>
                  </a:schemeClr>
                </a:solidFill>
              </a:rPr>
              <a:t>Insight:</a:t>
            </a:r>
            <a:r>
              <a:rPr lang="en-IN" dirty="0">
                <a:solidFill>
                  <a:schemeClr val="bg1">
                    <a:lumMod val="85000"/>
                    <a:lumOff val="15000"/>
                  </a:schemeClr>
                </a:solidFill>
              </a:rPr>
              <a:t> </a:t>
            </a:r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The </a:t>
            </a:r>
            <a:r>
              <a:rPr lang="en-US" b="1" dirty="0">
                <a:solidFill>
                  <a:schemeClr val="bg1">
                    <a:lumMod val="85000"/>
                    <a:lumOff val="15000"/>
                  </a:schemeClr>
                </a:solidFill>
              </a:rPr>
              <a:t>Clothing</a:t>
            </a:r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 category dominates sales contribution, clearly indicating high consumer preference; continuous inventory stocking and strategic sourcing are required to meet the increased demand in this category.</a:t>
            </a:r>
            <a:b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</a:br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Categories such as </a:t>
            </a:r>
            <a:r>
              <a:rPr lang="en-US" b="1" dirty="0">
                <a:solidFill>
                  <a:schemeClr val="bg1">
                    <a:lumMod val="85000"/>
                    <a:lumOff val="15000"/>
                  </a:schemeClr>
                </a:solidFill>
              </a:rPr>
              <a:t>Technology</a:t>
            </a:r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 and </a:t>
            </a:r>
            <a:r>
              <a:rPr lang="en-US" b="1" dirty="0">
                <a:solidFill>
                  <a:schemeClr val="bg1">
                    <a:lumMod val="85000"/>
                    <a:lumOff val="15000"/>
                  </a:schemeClr>
                </a:solidFill>
              </a:rPr>
              <a:t>Books</a:t>
            </a:r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 contribute minimally to overall revenue, suggesting a need for new marketing campaigns.</a:t>
            </a:r>
          </a:p>
          <a:p>
            <a:pPr marL="0" indent="0">
              <a:buNone/>
            </a:pPr>
            <a:endParaRPr lang="en-IN" dirty="0">
              <a:solidFill>
                <a:schemeClr val="bg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A806B3-AFA8-665D-3697-1698BBE6D9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6391" y="1371291"/>
            <a:ext cx="1672937" cy="11752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3965BA-6560-1EBF-D2A3-C570D815B8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2073" y="2546581"/>
            <a:ext cx="1672937" cy="1172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9963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6023B-76D0-E43A-39D5-A4D923DDA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182100"/>
            <a:ext cx="9582293" cy="1220673"/>
          </a:xfrm>
        </p:spPr>
        <p:txBody>
          <a:bodyPr/>
          <a:lstStyle/>
          <a:p>
            <a:r>
              <a:rPr lang="en-US" cap="none" dirty="0"/>
              <a:t>       Total revenue by gender and category</a:t>
            </a:r>
            <a:endParaRPr lang="en-IN" cap="non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69D766-6C82-5258-D69A-545FD792B7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402773"/>
            <a:ext cx="9905999" cy="4388428"/>
          </a:xfrm>
        </p:spPr>
        <p:txBody>
          <a:bodyPr>
            <a:normAutofit fontScale="92500"/>
          </a:bodyPr>
          <a:lstStyle/>
          <a:p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Total Revenue by Gender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: According to Gender category, female have made </a:t>
            </a:r>
            <a:br>
              <a:rPr lang="en-US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more Revenue 150Million (59.72%), </a:t>
            </a:r>
            <a:br>
              <a:rPr lang="en-US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while by Male have made 101 Million(40.28%) Revenue</a:t>
            </a:r>
            <a:br>
              <a:rPr lang="en-US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which is so less as compare to Female shopping habits.</a:t>
            </a:r>
          </a:p>
          <a:p>
            <a:r>
              <a:rPr lang="en-IN" b="1" dirty="0">
                <a:solidFill>
                  <a:schemeClr val="bg2">
                    <a:lumMod val="50000"/>
                  </a:schemeClr>
                </a:solidFill>
              </a:rPr>
              <a:t>Total Revenue by category: </a:t>
            </a:r>
            <a:r>
              <a:rPr lang="en-IN" dirty="0">
                <a:solidFill>
                  <a:schemeClr val="bg2">
                    <a:lumMod val="50000"/>
                  </a:schemeClr>
                </a:solidFill>
              </a:rPr>
              <a:t>The clothing category have</a:t>
            </a:r>
            <a:br>
              <a:rPr lang="en-IN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n-IN" dirty="0">
                <a:solidFill>
                  <a:schemeClr val="bg2">
                    <a:lumMod val="50000"/>
                  </a:schemeClr>
                </a:solidFill>
              </a:rPr>
              <a:t>made the largest share of total revenue, </a:t>
            </a:r>
            <a:br>
              <a:rPr lang="en-IN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n-IN" dirty="0">
                <a:solidFill>
                  <a:schemeClr val="bg2">
                    <a:lumMod val="50000"/>
                  </a:schemeClr>
                </a:solidFill>
              </a:rPr>
              <a:t>while books and souvenir have less,</a:t>
            </a:r>
            <a:br>
              <a:rPr lang="en-IN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Immediate focus is needed to investigate the reasons behind this poor performance (e.g., pricing, current trends) and implement targeted strategies for sales improvement.</a:t>
            </a:r>
            <a:endParaRPr lang="en-IN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2447A8-4E90-0AA3-60D2-F111BE5289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1455" y="1852418"/>
            <a:ext cx="2086378" cy="12759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70AF4CC-8500-903E-8A98-29E5C5C13D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1455" y="3183827"/>
            <a:ext cx="2120861" cy="127596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D7005A5-7F73-9C44-00FB-96E45CBC4F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8451" y="5218919"/>
            <a:ext cx="2888960" cy="145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2855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413FE-BDAF-9DB6-B18E-A7167B5CC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6127" y="0"/>
            <a:ext cx="9416038" cy="953657"/>
          </a:xfrm>
        </p:spPr>
        <p:txBody>
          <a:bodyPr/>
          <a:lstStyle/>
          <a:p>
            <a:r>
              <a:rPr lang="en-US" cap="none" dirty="0"/>
              <a:t>Shopping distribution according to age:</a:t>
            </a:r>
            <a:endParaRPr lang="en-IN" cap="non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CD1E66-A0B2-9A11-2BC7-436F49B5C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940959"/>
            <a:ext cx="10096089" cy="5249716"/>
          </a:xfrm>
        </p:spPr>
        <p:txBody>
          <a:bodyPr>
            <a:noAutofit/>
          </a:bodyPr>
          <a:lstStyle/>
          <a:p>
            <a:r>
              <a:rPr lang="en-US" sz="18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Total Revenue by Age Group : Age-Group category 36-45</a:t>
            </a:r>
            <a:br>
              <a:rPr lang="en-US" sz="1800" dirty="0">
                <a:solidFill>
                  <a:schemeClr val="bg1">
                    <a:lumMod val="85000"/>
                    <a:lumOff val="15000"/>
                  </a:schemeClr>
                </a:solidFill>
              </a:rPr>
            </a:br>
            <a:r>
              <a:rPr lang="en-US" sz="18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this Age group generated more revenue 50,184,235,</a:t>
            </a:r>
            <a:br>
              <a:rPr lang="en-US" sz="1800" dirty="0">
                <a:solidFill>
                  <a:schemeClr val="bg1">
                    <a:lumMod val="85000"/>
                    <a:lumOff val="15000"/>
                  </a:schemeClr>
                </a:solidFill>
              </a:rPr>
            </a:br>
            <a:r>
              <a:rPr lang="en-US" sz="18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(50 M)</a:t>
            </a:r>
          </a:p>
          <a:p>
            <a:r>
              <a:rPr lang="en-US" sz="18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Total Products Sold by Age Group: Age group 36-45 </a:t>
            </a:r>
            <a:br>
              <a:rPr lang="en-US" sz="1800" dirty="0">
                <a:solidFill>
                  <a:schemeClr val="bg1">
                    <a:lumMod val="85000"/>
                    <a:lumOff val="15000"/>
                  </a:schemeClr>
                </a:solidFill>
              </a:rPr>
            </a:br>
            <a:r>
              <a:rPr lang="en-US" sz="18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this age group purchased more products.</a:t>
            </a:r>
          </a:p>
          <a:p>
            <a:r>
              <a:rPr lang="en-US" sz="18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Insights: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1. </a:t>
            </a:r>
            <a:r>
              <a:rPr lang="en-IN" sz="1800" b="1" dirty="0">
                <a:solidFill>
                  <a:schemeClr val="bg1">
                    <a:lumMod val="85000"/>
                    <a:lumOff val="15000"/>
                  </a:schemeClr>
                </a:solidFill>
              </a:rPr>
              <a:t>High-Value Customer Base:</a:t>
            </a:r>
            <a:r>
              <a:rPr lang="en-IN" sz="18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8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The </a:t>
            </a:r>
            <a:r>
              <a:rPr lang="en-US" sz="1800" b="1" dirty="0">
                <a:solidFill>
                  <a:schemeClr val="bg1">
                    <a:lumMod val="85000"/>
                    <a:lumOff val="15000"/>
                  </a:schemeClr>
                </a:solidFill>
              </a:rPr>
              <a:t>36-45 age group</a:t>
            </a:r>
            <a:r>
              <a:rPr lang="en-US" sz="18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 is the most </a:t>
            </a:r>
            <a:br>
              <a:rPr lang="en-US" sz="1800" dirty="0">
                <a:solidFill>
                  <a:schemeClr val="bg1">
                    <a:lumMod val="85000"/>
                    <a:lumOff val="15000"/>
                  </a:schemeClr>
                </a:solidFill>
              </a:rPr>
            </a:br>
            <a:r>
              <a:rPr lang="en-US" sz="18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financially valuable segment, contributing the highest total revenue.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2. </a:t>
            </a:r>
            <a:r>
              <a:rPr lang="en-US" sz="1800" b="1" dirty="0">
                <a:solidFill>
                  <a:schemeClr val="bg1">
                    <a:lumMod val="85000"/>
                    <a:lumOff val="15000"/>
                  </a:schemeClr>
                </a:solidFill>
              </a:rPr>
              <a:t>Shopping Frequency Leader: </a:t>
            </a:r>
            <a:r>
              <a:rPr lang="en-US" sz="18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In terms of volume, the </a:t>
            </a:r>
            <a:r>
              <a:rPr lang="en-US" sz="1800" b="1" dirty="0">
                <a:solidFill>
                  <a:schemeClr val="bg1">
                    <a:lumMod val="85000"/>
                    <a:lumOff val="15000"/>
                  </a:schemeClr>
                </a:solidFill>
              </a:rPr>
              <a:t>36-45 age group</a:t>
            </a:r>
            <a:r>
              <a:rPr lang="en-US" sz="18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 </a:t>
            </a:r>
            <a:br>
              <a:rPr lang="en-US" sz="1800" dirty="0">
                <a:solidFill>
                  <a:schemeClr val="bg1">
                    <a:lumMod val="85000"/>
                    <a:lumOff val="15000"/>
                  </a:schemeClr>
                </a:solidFill>
              </a:rPr>
            </a:br>
            <a:r>
              <a:rPr lang="en-US" sz="18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purchased the largest quantity of products (total products sold).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3. </a:t>
            </a:r>
            <a:r>
              <a:rPr lang="en-US" sz="1800" b="1" dirty="0">
                <a:solidFill>
                  <a:schemeClr val="bg1">
                    <a:lumMod val="85000"/>
                    <a:lumOff val="15000"/>
                  </a:schemeClr>
                </a:solidFill>
              </a:rPr>
              <a:t>Targeted Growth Opportunity: </a:t>
            </a:r>
            <a:r>
              <a:rPr lang="en-US" sz="18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The younger </a:t>
            </a:r>
            <a:r>
              <a:rPr lang="en-US" sz="1800" b="1" dirty="0">
                <a:solidFill>
                  <a:schemeClr val="bg1">
                    <a:lumMod val="85000"/>
                    <a:lumOff val="15000"/>
                  </a:schemeClr>
                </a:solidFill>
              </a:rPr>
              <a:t>18–30 age group</a:t>
            </a:r>
            <a:r>
              <a:rPr lang="en-US" sz="18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 shows lower </a:t>
            </a:r>
            <a:br>
              <a:rPr lang="en-US" sz="1800" dirty="0">
                <a:solidFill>
                  <a:schemeClr val="bg1">
                    <a:lumMod val="85000"/>
                    <a:lumOff val="15000"/>
                  </a:schemeClr>
                </a:solidFill>
              </a:rPr>
            </a:br>
            <a:r>
              <a:rPr lang="en-US" sz="18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sales volume and revenue compared to the core segments.</a:t>
            </a:r>
            <a:br>
              <a:rPr lang="en-US" sz="1800" dirty="0">
                <a:solidFill>
                  <a:schemeClr val="bg1">
                    <a:lumMod val="85000"/>
                    <a:lumOff val="15000"/>
                  </a:schemeClr>
                </a:solidFill>
              </a:rPr>
            </a:br>
            <a:r>
              <a:rPr lang="en-US" sz="18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 Tailored digital and trend-based marketing could significantly boost their</a:t>
            </a:r>
            <a:br>
              <a:rPr lang="en-US" sz="1800" dirty="0">
                <a:solidFill>
                  <a:schemeClr val="bg1">
                    <a:lumMod val="85000"/>
                    <a:lumOff val="15000"/>
                  </a:schemeClr>
                </a:solidFill>
              </a:rPr>
            </a:br>
            <a:r>
              <a:rPr lang="en-US" sz="18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800" dirty="0">
                <a:solidFill>
                  <a:schemeClr val="bg1"/>
                </a:solidFill>
              </a:rPr>
              <a:t>engagement and drive up their purchase value.</a:t>
            </a:r>
            <a:br>
              <a:rPr lang="en-US" sz="1600" dirty="0"/>
            </a:br>
            <a:endParaRPr lang="en-IN" sz="1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E6D1AA9-4180-ED7D-08BC-5B0DF4F178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7418" y="953657"/>
            <a:ext cx="2800083" cy="247826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ACAEED6-D2B0-62C2-D2CD-5BA7DE8B0B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7418" y="3565817"/>
            <a:ext cx="2800083" cy="2478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9993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0A7E1-5BB3-32E3-F38D-FA040F053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955964"/>
            <a:ext cx="9905998" cy="850120"/>
          </a:xfrm>
        </p:spPr>
        <p:txBody>
          <a:bodyPr>
            <a:normAutofit fontScale="90000"/>
          </a:bodyPr>
          <a:lstStyle/>
          <a:p>
            <a:r>
              <a:rPr lang="en-US" cap="none" dirty="0"/>
              <a:t>Distribution Of Purchase Categories relative to gender:</a:t>
            </a:r>
            <a:endParaRPr lang="en-IN" cap="non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8A29C-9AFA-3F48-FD79-2D5244EBDF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2812" y="1906587"/>
            <a:ext cx="9905999" cy="3541714"/>
          </a:xfrm>
        </p:spPr>
        <p:txBody>
          <a:bodyPr>
            <a:normAutofit fontScale="85000" lnSpcReduction="10000"/>
          </a:bodyPr>
          <a:lstStyle/>
          <a:p>
            <a:r>
              <a:rPr lang="en-US" sz="2200" dirty="0">
                <a:solidFill>
                  <a:srgbClr val="002060"/>
                </a:solidFill>
              </a:rPr>
              <a:t>Total product sold by gender : </a:t>
            </a:r>
            <a:r>
              <a:rPr lang="en-US" sz="22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More products are purchased by female(179K) as compare to male (120K).</a:t>
            </a:r>
            <a:br>
              <a:rPr lang="en-US" sz="2200" dirty="0"/>
            </a:br>
            <a:r>
              <a:rPr lang="en-IN" sz="2200" dirty="0"/>
              <a:t>Key Insights: </a:t>
            </a:r>
            <a:br>
              <a:rPr lang="en-IN" sz="2200" dirty="0"/>
            </a:br>
            <a:r>
              <a:rPr lang="en-IN" sz="2200" dirty="0">
                <a:solidFill>
                  <a:srgbClr val="002060"/>
                </a:solidFill>
              </a:rPr>
              <a:t>1. </a:t>
            </a:r>
            <a:r>
              <a:rPr lang="en-IN" sz="2200" b="1" dirty="0">
                <a:solidFill>
                  <a:srgbClr val="002060"/>
                </a:solidFill>
              </a:rPr>
              <a:t>Primary Customer Segment:</a:t>
            </a:r>
            <a:br>
              <a:rPr lang="en-IN" sz="2200" b="1" dirty="0">
                <a:solidFill>
                  <a:srgbClr val="002060"/>
                </a:solidFill>
              </a:rPr>
            </a:br>
            <a:r>
              <a:rPr lang="en-IN" sz="22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Female customers are the dominant segment, </a:t>
            </a:r>
            <a:br>
              <a:rPr lang="en-IN" sz="2200" dirty="0">
                <a:solidFill>
                  <a:schemeClr val="bg1">
                    <a:lumMod val="85000"/>
                    <a:lumOff val="15000"/>
                  </a:schemeClr>
                </a:solidFill>
              </a:rPr>
            </a:br>
            <a:r>
              <a:rPr lang="en-IN" sz="22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contributing the highest volume of products sold and </a:t>
            </a:r>
            <a:br>
              <a:rPr lang="en-IN" sz="2200" dirty="0">
                <a:solidFill>
                  <a:schemeClr val="bg1">
                    <a:lumMod val="85000"/>
                    <a:lumOff val="15000"/>
                  </a:schemeClr>
                </a:solidFill>
              </a:rPr>
            </a:br>
            <a:r>
              <a:rPr lang="en-IN" sz="22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highest total revenue.</a:t>
            </a:r>
          </a:p>
          <a:p>
            <a:pPr marL="0" indent="0">
              <a:buNone/>
            </a:pPr>
            <a:r>
              <a:rPr lang="en-IN" sz="2200" dirty="0">
                <a:solidFill>
                  <a:srgbClr val="002060"/>
                </a:solidFill>
              </a:rPr>
              <a:t>2. </a:t>
            </a:r>
            <a:r>
              <a:rPr lang="en-IN" sz="2200" b="1" dirty="0">
                <a:solidFill>
                  <a:srgbClr val="002060"/>
                </a:solidFill>
              </a:rPr>
              <a:t>Male growth opportunity: </a:t>
            </a:r>
            <a:r>
              <a:rPr lang="en-IN" sz="22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less products purchased, there is a significant opportunity to increase their engagement and spending via targeted products offerings and marketing campaigns.</a:t>
            </a:r>
            <a:br>
              <a:rPr lang="en-IN" sz="2200" dirty="0">
                <a:solidFill>
                  <a:schemeClr val="bg1">
                    <a:lumMod val="85000"/>
                    <a:lumOff val="15000"/>
                  </a:schemeClr>
                </a:solidFill>
              </a:rPr>
            </a:br>
            <a:endParaRPr lang="en-IN" sz="2200" dirty="0">
              <a:solidFill>
                <a:schemeClr val="bg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B984EC-6F64-7280-C405-64B0F3E712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6827" y="2481276"/>
            <a:ext cx="4733035" cy="1687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5767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2ADE8-BD1C-8EC9-2335-754933B2E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36510"/>
            <a:ext cx="9905998" cy="1030289"/>
          </a:xfrm>
        </p:spPr>
        <p:txBody>
          <a:bodyPr>
            <a:normAutofit/>
          </a:bodyPr>
          <a:lstStyle/>
          <a:p>
            <a:r>
              <a:rPr lang="en-US" sz="3200" cap="none" dirty="0"/>
              <a:t>Payment Method Distribution:</a:t>
            </a:r>
            <a:endParaRPr lang="en-IN" sz="3200" cap="non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6BE531-8B32-31EA-C7D4-AC86131120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066798"/>
            <a:ext cx="9905999" cy="5084619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Most used payment method: </a:t>
            </a:r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The most used payment method is by cash 45%,</a:t>
            </a:r>
            <a:br>
              <a:rPr lang="en-IN" dirty="0">
                <a:solidFill>
                  <a:schemeClr val="bg1">
                    <a:lumMod val="85000"/>
                    <a:lumOff val="15000"/>
                  </a:schemeClr>
                </a:solidFill>
              </a:rPr>
            </a:br>
            <a:r>
              <a:rPr lang="en-IN" dirty="0">
                <a:solidFill>
                  <a:schemeClr val="bg1">
                    <a:lumMod val="85000"/>
                    <a:lumOff val="15000"/>
                  </a:schemeClr>
                </a:solidFill>
              </a:rPr>
              <a:t>and less used Debit cards 20%.</a:t>
            </a:r>
          </a:p>
          <a:p>
            <a:r>
              <a:rPr lang="en-IN" dirty="0"/>
              <a:t>Key Insights:                            </a:t>
            </a:r>
          </a:p>
          <a:p>
            <a:pPr marL="457200" indent="-457200">
              <a:buAutoNum type="arabicPeriod"/>
            </a:pPr>
            <a:r>
              <a:rPr lang="en-IN" dirty="0">
                <a:solidFill>
                  <a:schemeClr val="bg1">
                    <a:lumMod val="85000"/>
                    <a:lumOff val="15000"/>
                  </a:schemeClr>
                </a:solidFill>
              </a:rPr>
              <a:t>Value Vs. Frequency: </a:t>
            </a:r>
            <a:r>
              <a:rPr lang="en-IN" b="1" dirty="0">
                <a:solidFill>
                  <a:schemeClr val="bg1">
                    <a:lumMod val="85000"/>
                    <a:lumOff val="15000"/>
                  </a:schemeClr>
                </a:solidFill>
              </a:rPr>
              <a:t>Cash</a:t>
            </a:r>
            <a:r>
              <a:rPr lang="en-IN" dirty="0">
                <a:solidFill>
                  <a:schemeClr val="bg1">
                    <a:lumMod val="85000"/>
                    <a:lumOff val="15000"/>
                  </a:schemeClr>
                </a:solidFill>
              </a:rPr>
              <a:t> transactions generate the highest total revenue, while credit card transactions have the highest </a:t>
            </a:r>
            <a:br>
              <a:rPr lang="en-IN" dirty="0">
                <a:solidFill>
                  <a:schemeClr val="bg1">
                    <a:lumMod val="85000"/>
                    <a:lumOff val="15000"/>
                  </a:schemeClr>
                </a:solidFill>
              </a:rPr>
            </a:br>
            <a:r>
              <a:rPr lang="en-IN" dirty="0">
                <a:solidFill>
                  <a:schemeClr val="bg1">
                    <a:lumMod val="85000"/>
                    <a:lumOff val="15000"/>
                  </a:schemeClr>
                </a:solidFill>
              </a:rPr>
              <a:t>frequency (count), </a:t>
            </a:r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This implies that cash buyers have a </a:t>
            </a:r>
            <a:b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</a:br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higher average basket value, while credit card users </a:t>
            </a:r>
            <a:b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</a:br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shop more often.</a:t>
            </a:r>
          </a:p>
          <a:p>
            <a:pPr marL="457200" indent="-457200">
              <a:buAutoNum type="arabicPeriod"/>
            </a:pPr>
            <a:r>
              <a:rPr lang="en-IN" dirty="0">
                <a:solidFill>
                  <a:schemeClr val="bg1">
                    <a:lumMod val="85000"/>
                    <a:lumOff val="15000"/>
                  </a:schemeClr>
                </a:solidFill>
              </a:rPr>
              <a:t>Debit Card Opportunity: Debit Card usage is the lowest </a:t>
            </a:r>
            <a:br>
              <a:rPr lang="en-IN" dirty="0">
                <a:solidFill>
                  <a:schemeClr val="bg1">
                    <a:lumMod val="85000"/>
                    <a:lumOff val="15000"/>
                  </a:schemeClr>
                </a:solidFill>
              </a:rPr>
            </a:br>
            <a:r>
              <a:rPr lang="en-IN" dirty="0">
                <a:solidFill>
                  <a:schemeClr val="bg1">
                    <a:lumMod val="85000"/>
                    <a:lumOff val="15000"/>
                  </a:schemeClr>
                </a:solidFill>
              </a:rPr>
              <a:t>across all key metrics(revenue, volume, count), </a:t>
            </a:r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This represents a </a:t>
            </a:r>
            <a:b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</a:br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significant untapped segment where incentives or rewards should </a:t>
            </a:r>
            <a:b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</a:br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be focused to encourage digital adoption.</a:t>
            </a:r>
          </a:p>
          <a:p>
            <a:pPr marL="0" indent="0">
              <a:buNone/>
            </a:pPr>
            <a:endParaRPr lang="en-US" dirty="0"/>
          </a:p>
          <a:p>
            <a:pPr marL="457200" indent="-457200">
              <a:buAutoNum type="arabicPeriod"/>
            </a:pPr>
            <a:endParaRPr lang="en-IN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21AEC7-26C6-CEA0-F9C7-62B9769CE8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6422" y="2940621"/>
            <a:ext cx="3307323" cy="1537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603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A66C8-E648-005B-9F4C-C584714C4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576954"/>
            <a:ext cx="9905998" cy="680346"/>
          </a:xfrm>
        </p:spPr>
        <p:txBody>
          <a:bodyPr>
            <a:normAutofit/>
          </a:bodyPr>
          <a:lstStyle/>
          <a:p>
            <a:r>
              <a:rPr lang="en-US" sz="3200" cap="none" dirty="0"/>
              <a:t>Total Products Sold And Total Revenue By Payment Method:</a:t>
            </a:r>
            <a:endParaRPr lang="en-IN" sz="3200" cap="non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B66720-1941-E58C-D749-9527E0FC80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1" y="1480560"/>
            <a:ext cx="9905999" cy="3541714"/>
          </a:xfrm>
        </p:spPr>
        <p:txBody>
          <a:bodyPr/>
          <a:lstStyle/>
          <a:p>
            <a:pPr marL="0" indent="0">
              <a:buNone/>
            </a:pPr>
            <a:r>
              <a:rPr lang="en-IN" sz="22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3. Cash Transaction Risk: </a:t>
            </a:r>
            <a:r>
              <a:rPr lang="en-US" sz="22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The large contribution and high value of cash transactions increase operational risks associated with security and need for rigorous cash handling.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4. Digital shift direction: Incentivizing the use of digital payment methods (Debit/Credit Card) is strategically important to reduce long term operational costs associated with cash handling. 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F5B38E-699E-1F3D-305C-FB6661026E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1145" y="3810990"/>
            <a:ext cx="2567010" cy="24584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58874DC-5513-691D-A500-2F3576A795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2459" y="3810991"/>
            <a:ext cx="4864109" cy="2470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2593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03900-2B3A-BD70-F493-789D846B6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9671" y="363797"/>
            <a:ext cx="9905998" cy="856991"/>
          </a:xfrm>
        </p:spPr>
        <p:txBody>
          <a:bodyPr>
            <a:normAutofit fontScale="90000"/>
          </a:bodyPr>
          <a:lstStyle/>
          <a:p>
            <a:r>
              <a:rPr lang="en-US" sz="3200" cap="none" dirty="0"/>
              <a:t>Revenue And Total Products Sold Forecast – </a:t>
            </a:r>
            <a:br>
              <a:rPr lang="en-US" sz="3200" cap="none" dirty="0"/>
            </a:br>
            <a:r>
              <a:rPr lang="en-US" sz="3200" cap="none" dirty="0"/>
              <a:t>6 months Forecast :</a:t>
            </a:r>
            <a:endParaRPr lang="en-IN" sz="3200" cap="non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4D22FE-4BFB-2AEC-ACB4-12FD32B3F3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6330" y="1220788"/>
            <a:ext cx="9905999" cy="3070657"/>
          </a:xfrm>
        </p:spPr>
        <p:txBody>
          <a:bodyPr>
            <a:normAutofit fontScale="92500"/>
          </a:bodyPr>
          <a:lstStyle/>
          <a:p>
            <a:r>
              <a:rPr lang="en-US" sz="18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Forecasting for Revenue by Month :  The Revenue forecast remains at approximately 18.9 Million monthly.</a:t>
            </a:r>
          </a:p>
          <a:p>
            <a:pPr marL="457200" indent="-457200">
              <a:buAutoNum type="arabicPeriod"/>
            </a:pPr>
            <a:r>
              <a:rPr lang="en-IN" sz="1800" b="1" dirty="0">
                <a:solidFill>
                  <a:schemeClr val="bg1">
                    <a:lumMod val="85000"/>
                    <a:lumOff val="15000"/>
                  </a:schemeClr>
                </a:solidFill>
              </a:rPr>
              <a:t>Stable Mean: </a:t>
            </a:r>
            <a:r>
              <a:rPr lang="en-IN" sz="18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The base revenue forecast remains flat at approx. </a:t>
            </a:r>
            <a:r>
              <a:rPr lang="en-IN" sz="1800" b="1" dirty="0">
                <a:solidFill>
                  <a:schemeClr val="bg1">
                    <a:lumMod val="85000"/>
                    <a:lumOff val="15000"/>
                  </a:schemeClr>
                </a:solidFill>
              </a:rPr>
              <a:t>18.92 Million</a:t>
            </a:r>
            <a:r>
              <a:rPr lang="en-IN" sz="18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 per month (Month 13–18 means next months 1-6 Jan-June)</a:t>
            </a:r>
          </a:p>
          <a:p>
            <a:pPr marL="457200" indent="-457200">
              <a:buAutoNum type="arabicPeriod"/>
            </a:pPr>
            <a:r>
              <a:rPr lang="en-IN" sz="1800" b="1" dirty="0">
                <a:solidFill>
                  <a:schemeClr val="bg1">
                    <a:lumMod val="85000"/>
                    <a:lumOff val="15000"/>
                  </a:schemeClr>
                </a:solidFill>
              </a:rPr>
              <a:t>Below Actuals: </a:t>
            </a:r>
            <a:r>
              <a:rPr lang="en-IN" sz="18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This projected mean is </a:t>
            </a:r>
            <a:r>
              <a:rPr lang="en-IN" sz="1800" b="1" dirty="0">
                <a:solidFill>
                  <a:schemeClr val="bg1">
                    <a:lumMod val="85000"/>
                    <a:lumOff val="15000"/>
                  </a:schemeClr>
                </a:solidFill>
              </a:rPr>
              <a:t>lower</a:t>
            </a:r>
            <a:r>
              <a:rPr lang="en-IN" sz="18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 than the most recent actual revenue recorded in month 12 (20.1 million)</a:t>
            </a:r>
          </a:p>
          <a:p>
            <a:pPr marL="457200" indent="-457200">
              <a:buAutoNum type="arabicPeriod"/>
            </a:pPr>
            <a:r>
              <a:rPr lang="en-IN" sz="1800" b="1" dirty="0">
                <a:solidFill>
                  <a:schemeClr val="bg1">
                    <a:lumMod val="85000"/>
                    <a:lumOff val="15000"/>
                  </a:schemeClr>
                </a:solidFill>
              </a:rPr>
              <a:t>Rising Uncertainty</a:t>
            </a:r>
            <a:r>
              <a:rPr lang="en-IN" sz="18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: Forecast volatility is </a:t>
            </a:r>
            <a:r>
              <a:rPr lang="en-IN" sz="1800" b="1" dirty="0">
                <a:solidFill>
                  <a:schemeClr val="bg1">
                    <a:lumMod val="85000"/>
                    <a:lumOff val="15000"/>
                  </a:schemeClr>
                </a:solidFill>
              </a:rPr>
              <a:t>increasing significantly</a:t>
            </a:r>
            <a:r>
              <a:rPr lang="en-IN" sz="18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, evidenced by the confidence interval widening from </a:t>
            </a:r>
            <a:r>
              <a:rPr lang="en-IN" sz="1800" b="1" dirty="0">
                <a:solidFill>
                  <a:schemeClr val="bg1">
                    <a:lumMod val="85000"/>
                    <a:lumOff val="15000"/>
                  </a:schemeClr>
                </a:solidFill>
              </a:rPr>
              <a:t>7.8 million </a:t>
            </a:r>
            <a:r>
              <a:rPr lang="en-IN" sz="18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(M13) to over </a:t>
            </a:r>
            <a:r>
              <a:rPr lang="en-IN" sz="1800" b="1" dirty="0">
                <a:solidFill>
                  <a:schemeClr val="bg1">
                    <a:lumMod val="85000"/>
                    <a:lumOff val="15000"/>
                  </a:schemeClr>
                </a:solidFill>
              </a:rPr>
              <a:t>13 million </a:t>
            </a:r>
            <a:r>
              <a:rPr lang="en-IN" sz="18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(M17).</a:t>
            </a:r>
            <a:br>
              <a:rPr lang="en-IN" dirty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endParaRPr lang="en-IN" dirty="0">
              <a:solidFill>
                <a:schemeClr val="bg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endParaRPr lang="en-IN" dirty="0">
              <a:solidFill>
                <a:schemeClr val="bg1">
                  <a:lumMod val="95000"/>
                  <a:lumOff val="5000"/>
                </a:schemeClr>
              </a:solidFill>
            </a:endParaRPr>
          </a:p>
          <a:p>
            <a:pPr marL="457200" indent="-457200">
              <a:buAutoNum type="arabicPeriod"/>
            </a:pPr>
            <a:endParaRPr lang="en-IN" dirty="0">
              <a:solidFill>
                <a:schemeClr val="bg1">
                  <a:lumMod val="95000"/>
                  <a:lumOff val="5000"/>
                </a:schemeClr>
              </a:solidFill>
            </a:endParaRPr>
          </a:p>
          <a:p>
            <a:pPr marL="457200" indent="-457200">
              <a:buAutoNum type="arabicPeriod"/>
            </a:pPr>
            <a:endParaRPr lang="en-IN" dirty="0">
              <a:solidFill>
                <a:schemeClr val="bg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endParaRPr lang="en-IN" dirty="0">
              <a:solidFill>
                <a:schemeClr val="bg1">
                  <a:lumMod val="95000"/>
                  <a:lumOff val="5000"/>
                </a:schemeClr>
              </a:solidFill>
            </a:endParaRPr>
          </a:p>
          <a:p>
            <a:pPr marL="457200" indent="-457200">
              <a:buAutoNum type="arabicPeriod"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676B45-5A7B-3D9E-B0BD-479347A708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7369" y="3979718"/>
            <a:ext cx="4946954" cy="2647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3534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B7224-EC42-880E-2CF4-78BD78323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cap="none" dirty="0"/>
              <a:t>Revenue Projection:</a:t>
            </a:r>
            <a:endParaRPr lang="en-IN" sz="3200" cap="non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C3A56-77F5-376B-9AED-839F59CC76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854632"/>
            <a:ext cx="9905999" cy="3541714"/>
          </a:xfrm>
        </p:spPr>
        <p:txBody>
          <a:bodyPr/>
          <a:lstStyle/>
          <a:p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The mean forecast remains steady at </a:t>
            </a:r>
            <a:r>
              <a:rPr lang="en-US" b="1" dirty="0">
                <a:solidFill>
                  <a:schemeClr val="bg1">
                    <a:lumMod val="85000"/>
                    <a:lumOff val="15000"/>
                  </a:schemeClr>
                </a:solidFill>
              </a:rPr>
              <a:t>$18.92 million</a:t>
            </a:r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 monthly.</a:t>
            </a:r>
          </a:p>
          <a:p>
            <a:pPr marL="0" indent="0">
              <a:buNone/>
            </a:pPr>
            <a:r>
              <a:rPr lang="en-US" dirty="0"/>
              <a:t>                                           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F60524-28DD-DC14-4D67-4CFB520789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6165" y="2594803"/>
            <a:ext cx="6391322" cy="3818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5615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1FE57-340B-DF92-8420-4EFC10E6D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327514"/>
            <a:ext cx="9905998" cy="1164402"/>
          </a:xfrm>
        </p:spPr>
        <p:txBody>
          <a:bodyPr>
            <a:normAutofit/>
          </a:bodyPr>
          <a:lstStyle/>
          <a:p>
            <a:r>
              <a:rPr lang="en-US" sz="3200" cap="none" dirty="0"/>
              <a:t>Revenue 6 Months Forecast : </a:t>
            </a:r>
            <a:endParaRPr lang="en-IN" sz="3200" cap="non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7EBD73-99A9-3AAB-6183-973F4C1443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714500"/>
            <a:ext cx="9905999" cy="4589437"/>
          </a:xfrm>
        </p:spPr>
        <p:txBody>
          <a:bodyPr/>
          <a:lstStyle/>
          <a:p>
            <a:r>
              <a:rPr lang="en-US" dirty="0"/>
              <a:t>Revenue Projections (Month 13-18)  </a:t>
            </a:r>
          </a:p>
          <a:p>
            <a:pPr marL="0" indent="0">
              <a:buNone/>
            </a:pPr>
            <a:r>
              <a:rPr lang="en-US" dirty="0"/>
              <a:t>   </a:t>
            </a:r>
          </a:p>
          <a:p>
            <a:pPr marL="0" indent="0">
              <a:buNone/>
            </a:pPr>
            <a:r>
              <a:rPr lang="en-US" dirty="0"/>
              <a:t>  </a:t>
            </a:r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E06AD1F-69B9-6C1F-F823-09397C7A6E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7855007"/>
              </p:ext>
            </p:extLst>
          </p:nvPr>
        </p:nvGraphicFramePr>
        <p:xfrm>
          <a:off x="1058285" y="2568752"/>
          <a:ext cx="9906000" cy="3322320"/>
        </p:xfrm>
        <a:graphic>
          <a:graphicData uri="http://schemas.openxmlformats.org/drawingml/2006/table">
            <a:tbl>
              <a:tblPr/>
              <a:tblGrid>
                <a:gridCol w="1981200">
                  <a:extLst>
                    <a:ext uri="{9D8B030D-6E8A-4147-A177-3AD203B41FA5}">
                      <a16:colId xmlns:a16="http://schemas.microsoft.com/office/drawing/2014/main" val="895632219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144811867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604949939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403712659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417202954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Month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Forecast 1 (Base)</a:t>
                      </a:r>
                      <a:br>
                        <a:rPr lang="en-IN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</a:br>
                      <a:r>
                        <a:rPr lang="en-IN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(in million)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Upper Bound (Optimistic)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Lower Bound (Pessimistic)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Confidence Interval (Range)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77006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12 (Actual)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</a:t>
                      </a:r>
                      <a:r>
                        <a:rPr lang="en-IN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0.10 M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$ 22.8 M</a:t>
                      </a:r>
                    </a:p>
                    <a:p>
                      <a:pPr rtl="0">
                        <a:buNone/>
                      </a:pPr>
                      <a:endParaRPr lang="e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$ 16 M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$</a:t>
                      </a:r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7 M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28742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13 (Start)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$ 18.92 M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$22.81 M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$ 15.02 M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$7.80 M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25274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14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$ 18.92 M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$23.60 M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$14.22 M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$9.3 M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1831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15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$ 18.92 M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$24.28 M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$13.55 M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$10.73 M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01060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16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$ 18.92 M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$24.8 M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$12.95 M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$11.93 M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97025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17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$ 18.92 M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$25.42 M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$12.40 M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$13.02 M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82598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07687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F1F43-E70F-4586-B02E-7B40F74D8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337963"/>
            <a:ext cx="9905998" cy="950509"/>
          </a:xfrm>
        </p:spPr>
        <p:txBody>
          <a:bodyPr>
            <a:normAutofit/>
          </a:bodyPr>
          <a:lstStyle/>
          <a:p>
            <a:r>
              <a:rPr lang="en-US" sz="3200" cap="none" dirty="0"/>
              <a:t>Total Products Sold Forecast- 6 Months Forecast</a:t>
            </a:r>
            <a:endParaRPr lang="en-IN" sz="3200" cap="non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30C00-01CD-F3F1-2FC8-A9F9F6BB1B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153390"/>
            <a:ext cx="9905999" cy="3541714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Key Insights and Findings :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1. Stable Mean: The base forecast for Total Products Sold is flat at approx. 24,058 units per month (month 13-18 means Jan-June).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2. Below Last Actual: This projected average is significantly below the last actual data point displayed on the chart (Month 12 Actual: 24K units).</a:t>
            </a:r>
          </a:p>
          <a:p>
            <a:pPr marL="0" indent="0">
              <a:buNone/>
            </a:pPr>
            <a:r>
              <a:rPr lang="en-US" dirty="0"/>
              <a:t>                                  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257963-0BD2-1748-B06D-60086613C4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0626" y="3740727"/>
            <a:ext cx="5376239" cy="2779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7001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816E8-D1A3-C8AF-C263-53E254E07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587346"/>
            <a:ext cx="9905998" cy="888164"/>
          </a:xfrm>
        </p:spPr>
        <p:txBody>
          <a:bodyPr/>
          <a:lstStyle/>
          <a:p>
            <a:r>
              <a:rPr lang="en-US" cap="none" dirty="0"/>
              <a:t>Forecasting For Total Products - </a:t>
            </a:r>
            <a:r>
              <a:rPr lang="en-US" dirty="0"/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E1A9CE-4BDE-02C5-7A4D-E686413F12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658143"/>
            <a:ext cx="9905999" cy="3541714"/>
          </a:xfrm>
        </p:spPr>
        <p:txBody>
          <a:bodyPr/>
          <a:lstStyle/>
          <a:p>
            <a:r>
              <a:rPr lang="en-US" dirty="0"/>
              <a:t>Key Insights: </a:t>
            </a:r>
            <a:br>
              <a:rPr lang="en-US" dirty="0"/>
            </a:br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3. Rising Uncertainty: Forecast volatility is increasing rapidly, with the confidence interval (Upper to Lower Bound) widening from 5,921 units (M13) to over 13,576 units (M18).</a:t>
            </a:r>
            <a:br>
              <a:rPr lang="en-US" dirty="0"/>
            </a:br>
            <a:r>
              <a:rPr lang="en-US" dirty="0"/>
              <a:t>                                            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93A4F64-EF4A-D06A-32D0-51DF817BD6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7110" y="3605645"/>
            <a:ext cx="5877780" cy="2942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8485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9304A-688E-16F3-45EF-D2266D0B9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220548"/>
            <a:ext cx="9905998" cy="1006126"/>
          </a:xfrm>
        </p:spPr>
        <p:txBody>
          <a:bodyPr>
            <a:normAutofit/>
          </a:bodyPr>
          <a:lstStyle/>
          <a:p>
            <a:r>
              <a:rPr lang="en-US" sz="3400" cap="none" dirty="0"/>
              <a:t>Cumulative 6-month Forecast Table (Revenue &amp; Units) :</a:t>
            </a:r>
            <a:endParaRPr lang="en-IN" sz="3400" cap="none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9D0AED8-D511-A812-C8EA-22F84380C9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042752"/>
            <a:ext cx="9905999" cy="3964275"/>
          </a:xfrm>
        </p:spPr>
        <p:txBody>
          <a:bodyPr/>
          <a:lstStyle/>
          <a:p>
            <a:r>
              <a:rPr lang="en-US" dirty="0"/>
              <a:t>2. Products Sold Projections: (Month 13-18)</a:t>
            </a:r>
          </a:p>
          <a:p>
            <a:pPr marL="0" indent="0">
              <a:buNone/>
            </a:pPr>
            <a:r>
              <a:rPr lang="en-US" dirty="0"/>
              <a:t>                                           </a:t>
            </a:r>
          </a:p>
          <a:p>
            <a:pPr marL="0" indent="0">
              <a:buNone/>
            </a:pPr>
            <a:r>
              <a:rPr lang="en-US" dirty="0"/>
              <a:t>                                              </a:t>
            </a:r>
            <a:endParaRPr lang="en-IN" dirty="0"/>
          </a:p>
        </p:txBody>
      </p:sp>
      <p:graphicFrame>
        <p:nvGraphicFramePr>
          <p:cNvPr id="9" name="Content Placeholder 3">
            <a:extLst>
              <a:ext uri="{FF2B5EF4-FFF2-40B4-BE49-F238E27FC236}">
                <a16:creationId xmlns:a16="http://schemas.microsoft.com/office/drawing/2014/main" id="{50568B6D-15EF-5C4F-93A9-ED096121461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48526848"/>
              </p:ext>
            </p:extLst>
          </p:nvPr>
        </p:nvGraphicFramePr>
        <p:xfrm>
          <a:off x="1218546" y="5117868"/>
          <a:ext cx="8756728" cy="1188720"/>
        </p:xfrm>
        <a:graphic>
          <a:graphicData uri="http://schemas.openxmlformats.org/drawingml/2006/table">
            <a:tbl>
              <a:tblPr/>
              <a:tblGrid>
                <a:gridCol w="2189182">
                  <a:extLst>
                    <a:ext uri="{9D8B030D-6E8A-4147-A177-3AD203B41FA5}">
                      <a16:colId xmlns:a16="http://schemas.microsoft.com/office/drawing/2014/main" val="1338253548"/>
                    </a:ext>
                  </a:extLst>
                </a:gridCol>
                <a:gridCol w="2189182">
                  <a:extLst>
                    <a:ext uri="{9D8B030D-6E8A-4147-A177-3AD203B41FA5}">
                      <a16:colId xmlns:a16="http://schemas.microsoft.com/office/drawing/2014/main" val="1628487081"/>
                    </a:ext>
                  </a:extLst>
                </a:gridCol>
                <a:gridCol w="2189182">
                  <a:extLst>
                    <a:ext uri="{9D8B030D-6E8A-4147-A177-3AD203B41FA5}">
                      <a16:colId xmlns:a16="http://schemas.microsoft.com/office/drawing/2014/main" val="2584209795"/>
                    </a:ext>
                  </a:extLst>
                </a:gridCol>
                <a:gridCol w="2189182">
                  <a:extLst>
                    <a:ext uri="{9D8B030D-6E8A-4147-A177-3AD203B41FA5}">
                      <a16:colId xmlns:a16="http://schemas.microsoft.com/office/drawing/2014/main" val="29822806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Metric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Month 18 Forecast 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Upper Bound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Lower Bound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77755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Revenue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Google Sans Text"/>
                        </a:rPr>
                        <a:t>$18,917,721 M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Google Sans Text"/>
                        </a:rPr>
                        <a:t>$25,920,417 M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Google Sans Text"/>
                        </a:rPr>
                        <a:t>$11,915,025 M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17825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Total Products Sold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Google Sans Text"/>
                        </a:rPr>
                        <a:t>24,058 units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Google Sans Text"/>
                        </a:rPr>
                        <a:t>30,846 units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Google Sans Text"/>
                        </a:rPr>
                        <a:t>17,270 units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7404073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A7B536E3-9C2C-46B3-BCC3-946725EC1A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8022028"/>
              </p:ext>
            </p:extLst>
          </p:nvPr>
        </p:nvGraphicFramePr>
        <p:xfrm>
          <a:off x="1828799" y="1591190"/>
          <a:ext cx="8146475" cy="3322320"/>
        </p:xfrm>
        <a:graphic>
          <a:graphicData uri="http://schemas.openxmlformats.org/drawingml/2006/table">
            <a:tbl>
              <a:tblPr/>
              <a:tblGrid>
                <a:gridCol w="1629295">
                  <a:extLst>
                    <a:ext uri="{9D8B030D-6E8A-4147-A177-3AD203B41FA5}">
                      <a16:colId xmlns:a16="http://schemas.microsoft.com/office/drawing/2014/main" val="3085039078"/>
                    </a:ext>
                  </a:extLst>
                </a:gridCol>
                <a:gridCol w="1629295">
                  <a:extLst>
                    <a:ext uri="{9D8B030D-6E8A-4147-A177-3AD203B41FA5}">
                      <a16:colId xmlns:a16="http://schemas.microsoft.com/office/drawing/2014/main" val="43590011"/>
                    </a:ext>
                  </a:extLst>
                </a:gridCol>
                <a:gridCol w="1629295">
                  <a:extLst>
                    <a:ext uri="{9D8B030D-6E8A-4147-A177-3AD203B41FA5}">
                      <a16:colId xmlns:a16="http://schemas.microsoft.com/office/drawing/2014/main" val="3455374097"/>
                    </a:ext>
                  </a:extLst>
                </a:gridCol>
                <a:gridCol w="1629295">
                  <a:extLst>
                    <a:ext uri="{9D8B030D-6E8A-4147-A177-3AD203B41FA5}">
                      <a16:colId xmlns:a16="http://schemas.microsoft.com/office/drawing/2014/main" val="896493971"/>
                    </a:ext>
                  </a:extLst>
                </a:gridCol>
                <a:gridCol w="1629295">
                  <a:extLst>
                    <a:ext uri="{9D8B030D-6E8A-4147-A177-3AD203B41FA5}">
                      <a16:colId xmlns:a16="http://schemas.microsoft.com/office/drawing/2014/main" val="3383394832"/>
                    </a:ext>
                  </a:extLst>
                </a:gridCol>
              </a:tblGrid>
              <a:tr h="88798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Month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Forecast 1 (Base)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Upper Bound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Lower Bound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Interval (Uncertainty Range)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9284152"/>
                  </a:ext>
                </a:extLst>
              </a:tr>
              <a:tr h="37238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13 (Start)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24,058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27,079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21,038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6,041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506903"/>
                  </a:ext>
                </a:extLst>
              </a:tr>
              <a:tr h="37238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14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24,058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28,122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19,994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8,128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8150590"/>
                  </a:ext>
                </a:extLst>
              </a:tr>
              <a:tr h="37238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15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24,058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28,948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19,169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9,779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2663623"/>
                  </a:ext>
                </a:extLst>
              </a:tr>
              <a:tr h="37238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16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24,058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29,653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18,464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11,189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6774814"/>
                  </a:ext>
                </a:extLst>
              </a:tr>
              <a:tr h="37238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17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24,058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30,278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17,839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12,439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272773"/>
                  </a:ext>
                </a:extLst>
              </a:tr>
              <a:tr h="37238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18 (End)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24,058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30,846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17,270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13,576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96126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90562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71499-72B0-6630-ADDB-A806A7941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6104" y="457200"/>
            <a:ext cx="9905998" cy="742691"/>
          </a:xfr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sz="3200" cap="none" dirty="0"/>
              <a:t>Dashboard View : </a:t>
            </a:r>
            <a:endParaRPr lang="en-IN" sz="3200" cap="none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C5D21FB-6CCA-5DD4-3788-8BECAD5BA8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78271" y="1412875"/>
            <a:ext cx="8980917" cy="4987925"/>
          </a:xfrm>
        </p:spPr>
      </p:pic>
    </p:spTree>
    <p:extLst>
      <p:ext uri="{BB962C8B-B14F-4D97-AF65-F5344CB8AC3E}">
        <p14:creationId xmlns:p14="http://schemas.microsoft.com/office/powerpoint/2010/main" val="8628394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B6FE6BC-2292-BFCC-C90B-7F3A46B37C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10862" y="1538287"/>
            <a:ext cx="8738521" cy="4872903"/>
          </a:xfr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256B2B0F-0B12-CB5F-1EA8-60C814D95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6494" y="587953"/>
            <a:ext cx="9906000" cy="731693"/>
          </a:xfr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sz="3200" cap="none" dirty="0"/>
              <a:t>Dashboard View : </a:t>
            </a:r>
            <a:endParaRPr lang="en-IN" sz="3200" cap="none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1733E6-15E2-A299-A2CF-EA1E34666B35}"/>
              </a:ext>
            </a:extLst>
          </p:cNvPr>
          <p:cNvSpPr txBox="1"/>
          <p:nvPr/>
        </p:nvSpPr>
        <p:spPr>
          <a:xfrm>
            <a:off x="10035450" y="6290828"/>
            <a:ext cx="15043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(Page 2)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703159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5C448F-4CED-CAD9-00F6-0E672B3DE1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8839" y="1272740"/>
            <a:ext cx="9905999" cy="467085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3000" dirty="0"/>
              <a:t>Conclusion :</a:t>
            </a:r>
          </a:p>
          <a:p>
            <a:pPr marL="0" indent="0">
              <a:buNone/>
            </a:pPr>
            <a:r>
              <a:rPr lang="en-US" dirty="0"/>
              <a:t>LEARNING:</a:t>
            </a:r>
          </a:p>
          <a:p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Incorporated data analysis techniques, </a:t>
            </a:r>
          </a:p>
          <a:p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Specializing in time series analysis, </a:t>
            </a:r>
          </a:p>
          <a:p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To deliver valuable insights, </a:t>
            </a:r>
          </a:p>
          <a:p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Accurate sales forecasting, and interactive dashboard creation,</a:t>
            </a:r>
          </a:p>
          <a:p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Driving business success.</a:t>
            </a:r>
          </a:p>
          <a:p>
            <a:pPr marL="0" indent="0">
              <a:buNone/>
            </a:pPr>
            <a:endParaRPr lang="en-IN" dirty="0">
              <a:solidFill>
                <a:schemeClr val="bg1">
                  <a:lumMod val="85000"/>
                  <a:lumOff val="15000"/>
                </a:schemeClr>
              </a:solidFill>
            </a:endParaRPr>
          </a:p>
          <a:p>
            <a:pPr marL="0" indent="0">
              <a:buNone/>
            </a:pPr>
            <a:r>
              <a:rPr lang="en-IN" sz="1700" dirty="0"/>
              <a:t>Record video &amp; Dashboard link : </a:t>
            </a:r>
            <a:r>
              <a:rPr lang="en-IN" sz="1700" dirty="0">
                <a:solidFill>
                  <a:schemeClr val="tx1">
                    <a:lumMod val="75000"/>
                  </a:schemeClr>
                </a:solidFill>
              </a:rPr>
              <a:t>https://drive.google.com/drive/folders/10x5WM8Bcy_zgCULR9JlVzqB_VWt_GjI?usp=sharing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63942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F99E78-0B94-1F25-8053-C095AA2F16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927369"/>
            <a:ext cx="9905999" cy="377724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br>
              <a:rPr lang="en-US" dirty="0"/>
            </a:br>
            <a:r>
              <a:rPr lang="en-US" dirty="0"/>
              <a:t>                                      </a:t>
            </a:r>
          </a:p>
          <a:p>
            <a:pPr marL="0" indent="0">
              <a:buNone/>
            </a:pPr>
            <a:r>
              <a:rPr lang="en-US" sz="5400" dirty="0"/>
              <a:t>                 Thank You </a:t>
            </a:r>
          </a:p>
          <a:p>
            <a:pPr marL="0" indent="0">
              <a:buNone/>
            </a:pPr>
            <a:endParaRPr lang="en-US" sz="5400" dirty="0"/>
          </a:p>
          <a:p>
            <a:pPr marL="0" indent="0">
              <a:buNone/>
            </a:pPr>
            <a:r>
              <a:rPr lang="en-IN" sz="1400" dirty="0"/>
              <a:t> </a:t>
            </a:r>
            <a:br>
              <a:rPr lang="en-IN" sz="1400" dirty="0"/>
            </a:br>
            <a:br>
              <a:rPr lang="en-IN" sz="1400" dirty="0"/>
            </a:br>
            <a:br>
              <a:rPr lang="en-IN" sz="1400" dirty="0"/>
            </a:br>
            <a:r>
              <a:rPr lang="en-IN" sz="1400" dirty="0"/>
              <a:t>             </a:t>
            </a:r>
            <a:r>
              <a:rPr lang="en-IN" sz="1500" dirty="0"/>
              <a:t>Record Video link: https://drive.google.com/file/d/1MCooeDLQy7T6eIuX3cGirEI9UAkZJSym/view?usp=sharing </a:t>
            </a:r>
            <a:br>
              <a:rPr lang="en-IN" sz="1500" dirty="0"/>
            </a:br>
            <a:r>
              <a:rPr lang="en-IN" sz="1500" dirty="0"/>
              <a:t>            </a:t>
            </a:r>
          </a:p>
        </p:txBody>
      </p:sp>
    </p:spTree>
    <p:extLst>
      <p:ext uri="{BB962C8B-B14F-4D97-AF65-F5344CB8AC3E}">
        <p14:creationId xmlns:p14="http://schemas.microsoft.com/office/powerpoint/2010/main" val="19602570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3364</TotalTime>
  <Words>2128</Words>
  <Application>Microsoft Office PowerPoint</Application>
  <PresentationFormat>Widescreen</PresentationFormat>
  <Paragraphs>224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Arial</vt:lpstr>
      <vt:lpstr>Google Sans Text</vt:lpstr>
      <vt:lpstr>Times New Roman</vt:lpstr>
      <vt:lpstr>Tw Cen MT</vt:lpstr>
      <vt:lpstr>Wingdings</vt:lpstr>
      <vt:lpstr>Circuit</vt:lpstr>
      <vt:lpstr>Customer Segmentation Data Analysis</vt:lpstr>
      <vt:lpstr>Introduction :</vt:lpstr>
      <vt:lpstr>Objectives : </vt:lpstr>
      <vt:lpstr>Attribute Information :</vt:lpstr>
      <vt:lpstr>Attribute Information : </vt:lpstr>
      <vt:lpstr>Methodology : </vt:lpstr>
      <vt:lpstr>Methodology : </vt:lpstr>
      <vt:lpstr>Database connection : </vt:lpstr>
      <vt:lpstr>PowerPoint Presentation</vt:lpstr>
      <vt:lpstr>Overview : Customer data Analysis </vt:lpstr>
      <vt:lpstr>KPIs </vt:lpstr>
      <vt:lpstr>Slicers To Filter and Track Data : </vt:lpstr>
      <vt:lpstr>Total Customers and total products sold</vt:lpstr>
      <vt:lpstr>       Total revenue by gender and category</vt:lpstr>
      <vt:lpstr>Shopping distribution according to age:</vt:lpstr>
      <vt:lpstr>Distribution Of Purchase Categories relative to gender:</vt:lpstr>
      <vt:lpstr>Payment Method Distribution:</vt:lpstr>
      <vt:lpstr>Total Products Sold And Total Revenue By Payment Method:</vt:lpstr>
      <vt:lpstr>Revenue And Total Products Sold Forecast –  6 months Forecast :</vt:lpstr>
      <vt:lpstr>Revenue Projection:</vt:lpstr>
      <vt:lpstr>Revenue 6 Months Forecast : </vt:lpstr>
      <vt:lpstr>Total Products Sold Forecast- 6 Months Forecast</vt:lpstr>
      <vt:lpstr>Forecasting For Total Products -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vt:lpstr>
      <vt:lpstr>Cumulative 6-month Forecast Table (Revenue &amp; Units) :</vt:lpstr>
      <vt:lpstr>Dashboard View : </vt:lpstr>
      <vt:lpstr>Dashboard View :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Omkar Zingade</dc:creator>
  <cp:lastModifiedBy>Omkar Zingade</cp:lastModifiedBy>
  <cp:revision>90</cp:revision>
  <dcterms:created xsi:type="dcterms:W3CDTF">2025-09-21T07:04:35Z</dcterms:created>
  <dcterms:modified xsi:type="dcterms:W3CDTF">2025-12-22T06:08:29Z</dcterms:modified>
</cp:coreProperties>
</file>